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Canva Sans Bold" panose="020B0604020202020204" charset="0"/>
      <p:regular r:id="rId11"/>
    </p:embeddedFont>
    <p:embeddedFont>
      <p:font typeface="Glacial Indifference Bold Italics" panose="020B0604020202020204" charset="0"/>
      <p:regular r:id="rId12"/>
    </p:embeddedFont>
    <p:embeddedFont>
      <p:font typeface="Higuen Elegant Serif" panose="020B0604020202020204" charset="-18"/>
      <p:regular r:id="rId13"/>
    </p:embeddedFont>
    <p:embeddedFont>
      <p:font typeface="HK Grotesk" panose="020B0604020202020204" charset="0"/>
      <p:regular r:id="rId14"/>
    </p:embeddedFont>
    <p:embeddedFont>
      <p:font typeface="HK Grotesk Bold" panose="020B0604020202020204" charset="0"/>
      <p:regular r:id="rId15"/>
    </p:embeddedFont>
    <p:embeddedFont>
      <p:font typeface="HK Grotesk Bold Italics" panose="020B0604020202020204" charset="0"/>
      <p:regular r:id="rId16"/>
    </p:embeddedFont>
    <p:embeddedFont>
      <p:font typeface="HK Grotesk Italics"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9" d="100"/>
          <a:sy n="49" d="100"/>
        </p:scale>
        <p:origin x="92" y="4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ushka Avanti" userId="4fc473e820949b24" providerId="LiveId" clId="{3DD20EF9-5A7F-42EB-AB57-BD9EC026A215}"/>
    <pc:docChg chg="undo custSel modSld">
      <pc:chgData name="Anushka Avanti" userId="4fc473e820949b24" providerId="LiveId" clId="{3DD20EF9-5A7F-42EB-AB57-BD9EC026A215}" dt="2025-04-21T08:34:29.334" v="17" actId="114"/>
      <pc:docMkLst>
        <pc:docMk/>
      </pc:docMkLst>
      <pc:sldChg chg="modSp mod">
        <pc:chgData name="Anushka Avanti" userId="4fc473e820949b24" providerId="LiveId" clId="{3DD20EF9-5A7F-42EB-AB57-BD9EC026A215}" dt="2025-04-21T08:32:15.703" v="1" actId="1038"/>
        <pc:sldMkLst>
          <pc:docMk/>
          <pc:sldMk cId="0" sldId="256"/>
        </pc:sldMkLst>
        <pc:spChg chg="mod">
          <ac:chgData name="Anushka Avanti" userId="4fc473e820949b24" providerId="LiveId" clId="{3DD20EF9-5A7F-42EB-AB57-BD9EC026A215}" dt="2025-04-21T08:32:15.703" v="1" actId="1038"/>
          <ac:spMkLst>
            <pc:docMk/>
            <pc:sldMk cId="0" sldId="256"/>
            <ac:spMk id="2" creationId="{00000000-0000-0000-0000-000000000000}"/>
          </ac:spMkLst>
        </pc:spChg>
      </pc:sldChg>
      <pc:sldChg chg="modSp mod">
        <pc:chgData name="Anushka Avanti" userId="4fc473e820949b24" providerId="LiveId" clId="{3DD20EF9-5A7F-42EB-AB57-BD9EC026A215}" dt="2025-04-21T08:34:21.615" v="16" actId="114"/>
        <pc:sldMkLst>
          <pc:docMk/>
          <pc:sldMk cId="0" sldId="257"/>
        </pc:sldMkLst>
        <pc:spChg chg="mod">
          <ac:chgData name="Anushka Avanti" userId="4fc473e820949b24" providerId="LiveId" clId="{3DD20EF9-5A7F-42EB-AB57-BD9EC026A215}" dt="2025-04-21T08:34:21.615" v="16" actId="114"/>
          <ac:spMkLst>
            <pc:docMk/>
            <pc:sldMk cId="0" sldId="257"/>
            <ac:spMk id="11" creationId="{00000000-0000-0000-0000-000000000000}"/>
          </ac:spMkLst>
        </pc:spChg>
      </pc:sldChg>
      <pc:sldChg chg="modSp mod">
        <pc:chgData name="Anushka Avanti" userId="4fc473e820949b24" providerId="LiveId" clId="{3DD20EF9-5A7F-42EB-AB57-BD9EC026A215}" dt="2025-04-21T08:34:16.410" v="15" actId="114"/>
        <pc:sldMkLst>
          <pc:docMk/>
          <pc:sldMk cId="0" sldId="258"/>
        </pc:sldMkLst>
        <pc:spChg chg="mod">
          <ac:chgData name="Anushka Avanti" userId="4fc473e820949b24" providerId="LiveId" clId="{3DD20EF9-5A7F-42EB-AB57-BD9EC026A215}" dt="2025-04-21T08:34:16.410" v="15" actId="114"/>
          <ac:spMkLst>
            <pc:docMk/>
            <pc:sldMk cId="0" sldId="258"/>
            <ac:spMk id="7" creationId="{00000000-0000-0000-0000-000000000000}"/>
          </ac:spMkLst>
        </pc:spChg>
      </pc:sldChg>
      <pc:sldChg chg="modSp mod">
        <pc:chgData name="Anushka Avanti" userId="4fc473e820949b24" providerId="LiveId" clId="{3DD20EF9-5A7F-42EB-AB57-BD9EC026A215}" dt="2025-04-21T08:34:29.334" v="17" actId="114"/>
        <pc:sldMkLst>
          <pc:docMk/>
          <pc:sldMk cId="0" sldId="259"/>
        </pc:sldMkLst>
        <pc:spChg chg="mod">
          <ac:chgData name="Anushka Avanti" userId="4fc473e820949b24" providerId="LiveId" clId="{3DD20EF9-5A7F-42EB-AB57-BD9EC026A215}" dt="2025-04-21T08:34:29.334" v="17" actId="114"/>
          <ac:spMkLst>
            <pc:docMk/>
            <pc:sldMk cId="0" sldId="259"/>
            <ac:spMk id="12" creationId="{00000000-0000-0000-0000-000000000000}"/>
          </ac:spMkLst>
        </pc:spChg>
      </pc:sldChg>
      <pc:sldChg chg="modSp mod">
        <pc:chgData name="Anushka Avanti" userId="4fc473e820949b24" providerId="LiveId" clId="{3DD20EF9-5A7F-42EB-AB57-BD9EC026A215}" dt="2025-04-21T08:34:09.410" v="14" actId="114"/>
        <pc:sldMkLst>
          <pc:docMk/>
          <pc:sldMk cId="0" sldId="260"/>
        </pc:sldMkLst>
        <pc:spChg chg="mod">
          <ac:chgData name="Anushka Avanti" userId="4fc473e820949b24" providerId="LiveId" clId="{3DD20EF9-5A7F-42EB-AB57-BD9EC026A215}" dt="2025-04-21T08:34:09.410" v="14" actId="114"/>
          <ac:spMkLst>
            <pc:docMk/>
            <pc:sldMk cId="0" sldId="260"/>
            <ac:spMk id="9" creationId="{00000000-0000-0000-0000-000000000000}"/>
          </ac:spMkLst>
        </pc:spChg>
      </pc:sldChg>
      <pc:sldChg chg="modSp mod">
        <pc:chgData name="Anushka Avanti" userId="4fc473e820949b24" providerId="LiveId" clId="{3DD20EF9-5A7F-42EB-AB57-BD9EC026A215}" dt="2025-04-21T08:33:06.985" v="5" actId="114"/>
        <pc:sldMkLst>
          <pc:docMk/>
          <pc:sldMk cId="0" sldId="261"/>
        </pc:sldMkLst>
        <pc:spChg chg="mod">
          <ac:chgData name="Anushka Avanti" userId="4fc473e820949b24" providerId="LiveId" clId="{3DD20EF9-5A7F-42EB-AB57-BD9EC026A215}" dt="2025-04-21T08:33:06.985" v="5" actId="114"/>
          <ac:spMkLst>
            <pc:docMk/>
            <pc:sldMk cId="0" sldId="261"/>
            <ac:spMk id="9" creationId="{00000000-0000-0000-0000-000000000000}"/>
          </ac:spMkLst>
        </pc:spChg>
      </pc:sldChg>
      <pc:sldChg chg="modSp mod">
        <pc:chgData name="Anushka Avanti" userId="4fc473e820949b24" providerId="LiveId" clId="{3DD20EF9-5A7F-42EB-AB57-BD9EC026A215}" dt="2025-04-21T08:33:12.783" v="6" actId="114"/>
        <pc:sldMkLst>
          <pc:docMk/>
          <pc:sldMk cId="0" sldId="262"/>
        </pc:sldMkLst>
        <pc:spChg chg="mod">
          <ac:chgData name="Anushka Avanti" userId="4fc473e820949b24" providerId="LiveId" clId="{3DD20EF9-5A7F-42EB-AB57-BD9EC026A215}" dt="2025-04-21T08:33:12.783" v="6" actId="114"/>
          <ac:spMkLst>
            <pc:docMk/>
            <pc:sldMk cId="0" sldId="262"/>
            <ac:spMk id="15" creationId="{00000000-0000-0000-0000-000000000000}"/>
          </ac:spMkLst>
        </pc:spChg>
      </pc:sldChg>
      <pc:sldChg chg="modSp mod">
        <pc:chgData name="Anushka Avanti" userId="4fc473e820949b24" providerId="LiveId" clId="{3DD20EF9-5A7F-42EB-AB57-BD9EC026A215}" dt="2025-04-21T08:33:17.457" v="7" actId="114"/>
        <pc:sldMkLst>
          <pc:docMk/>
          <pc:sldMk cId="0" sldId="263"/>
        </pc:sldMkLst>
        <pc:spChg chg="mod">
          <ac:chgData name="Anushka Avanti" userId="4fc473e820949b24" providerId="LiveId" clId="{3DD20EF9-5A7F-42EB-AB57-BD9EC026A215}" dt="2025-04-21T08:33:17.457" v="7" actId="114"/>
          <ac:spMkLst>
            <pc:docMk/>
            <pc:sldMk cId="0" sldId="263"/>
            <ac:spMk id="9" creationId="{00000000-0000-0000-0000-000000000000}"/>
          </ac:spMkLst>
        </pc:spChg>
      </pc:sldChg>
      <pc:sldChg chg="modSp mod">
        <pc:chgData name="Anushka Avanti" userId="4fc473e820949b24" providerId="LiveId" clId="{3DD20EF9-5A7F-42EB-AB57-BD9EC026A215}" dt="2025-04-21T08:33:57.159" v="13" actId="6549"/>
        <pc:sldMkLst>
          <pc:docMk/>
          <pc:sldMk cId="0" sldId="264"/>
        </pc:sldMkLst>
        <pc:spChg chg="mod">
          <ac:chgData name="Anushka Avanti" userId="4fc473e820949b24" providerId="LiveId" clId="{3DD20EF9-5A7F-42EB-AB57-BD9EC026A215}" dt="2025-04-21T08:33:41.223" v="11" actId="1076"/>
          <ac:spMkLst>
            <pc:docMk/>
            <pc:sldMk cId="0" sldId="264"/>
            <ac:spMk id="2" creationId="{00000000-0000-0000-0000-000000000000}"/>
          </ac:spMkLst>
        </pc:spChg>
        <pc:spChg chg="mod">
          <ac:chgData name="Anushka Avanti" userId="4fc473e820949b24" providerId="LiveId" clId="{3DD20EF9-5A7F-42EB-AB57-BD9EC026A215}" dt="2025-04-21T08:33:57.159" v="13" actId="6549"/>
          <ac:spMkLst>
            <pc:docMk/>
            <pc:sldMk cId="0" sldId="264"/>
            <ac:spMk id="3" creationId="{00000000-0000-0000-0000-000000000000}"/>
          </ac:spMkLst>
        </pc:spChg>
        <pc:spChg chg="mod">
          <ac:chgData name="Anushka Avanti" userId="4fc473e820949b24" providerId="LiveId" clId="{3DD20EF9-5A7F-42EB-AB57-BD9EC026A215}" dt="2025-04-21T08:32:56.883" v="4" actId="1076"/>
          <ac:spMkLst>
            <pc:docMk/>
            <pc:sldMk cId="0" sldId="264"/>
            <ac:spMk id="4"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5.sv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9.sv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14.jpeg"/><Relationship Id="rId5" Type="http://schemas.openxmlformats.org/officeDocument/2006/relationships/image" Target="../media/image13.sv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a:p>
        </p:txBody>
      </p:sp>
      <p:grpSp>
        <p:nvGrpSpPr>
          <p:cNvPr id="3" name="Group 3"/>
          <p:cNvGrpSpPr>
            <a:grpSpLocks noChangeAspect="1"/>
          </p:cNvGrpSpPr>
          <p:nvPr/>
        </p:nvGrpSpPr>
        <p:grpSpPr>
          <a:xfrm>
            <a:off x="5050407" y="4107867"/>
            <a:ext cx="8187185" cy="123825"/>
            <a:chOff x="0" y="0"/>
            <a:chExt cx="8187182" cy="123825"/>
          </a:xfrm>
        </p:grpSpPr>
        <p:sp>
          <p:nvSpPr>
            <p:cNvPr id="4" name="Freeform 4"/>
            <p:cNvSpPr/>
            <p:nvPr/>
          </p:nvSpPr>
          <p:spPr>
            <a:xfrm>
              <a:off x="0" y="0"/>
              <a:ext cx="8187182" cy="123825"/>
            </a:xfrm>
            <a:custGeom>
              <a:avLst/>
              <a:gdLst/>
              <a:ahLst/>
              <a:cxnLst/>
              <a:rect l="l" t="t" r="r" b="b"/>
              <a:pathLst>
                <a:path w="8187182" h="123825">
                  <a:moveTo>
                    <a:pt x="0" y="0"/>
                  </a:moveTo>
                  <a:lnTo>
                    <a:pt x="8187182" y="0"/>
                  </a:lnTo>
                  <a:lnTo>
                    <a:pt x="8187182" y="123825"/>
                  </a:lnTo>
                  <a:lnTo>
                    <a:pt x="0" y="123825"/>
                  </a:lnTo>
                  <a:close/>
                </a:path>
              </a:pathLst>
            </a:custGeom>
            <a:solidFill>
              <a:srgbClr val="FFFFFF"/>
            </a:solidFill>
          </p:spPr>
          <p:txBody>
            <a:bodyPr/>
            <a:lstStyle/>
            <a:p>
              <a:endParaRPr lang="en-IN"/>
            </a:p>
          </p:txBody>
        </p:sp>
      </p:grpSp>
      <p:sp>
        <p:nvSpPr>
          <p:cNvPr id="5" name="TextBox 5"/>
          <p:cNvSpPr txBox="1"/>
          <p:nvPr/>
        </p:nvSpPr>
        <p:spPr>
          <a:xfrm>
            <a:off x="6207603" y="4561276"/>
            <a:ext cx="6418259" cy="1107297"/>
          </a:xfrm>
          <a:prstGeom prst="rect">
            <a:avLst/>
          </a:prstGeom>
        </p:spPr>
        <p:txBody>
          <a:bodyPr lIns="0" tIns="0" rIns="0" bIns="0" rtlCol="0" anchor="t">
            <a:spAutoFit/>
          </a:bodyPr>
          <a:lstStyle/>
          <a:p>
            <a:pPr algn="ctr">
              <a:lnSpc>
                <a:spcPts val="4498"/>
              </a:lnSpc>
            </a:pPr>
            <a:r>
              <a:rPr lang="en-US" sz="3264">
                <a:solidFill>
                  <a:srgbClr val="FFFFFF"/>
                </a:solidFill>
                <a:latin typeface="Higuen Elegant Serif"/>
                <a:ea typeface="Higuen Elegant Serif"/>
                <a:cs typeface="Higuen Elegant Serif"/>
                <a:sym typeface="Higuen Elegant Serif"/>
              </a:rPr>
              <a:t>Enhanced Decision Pipeline for Chronic Illness Detection</a:t>
            </a:r>
          </a:p>
        </p:txBody>
      </p:sp>
      <p:sp>
        <p:nvSpPr>
          <p:cNvPr id="6" name="TextBox 6"/>
          <p:cNvSpPr txBox="1"/>
          <p:nvPr/>
        </p:nvSpPr>
        <p:spPr>
          <a:xfrm>
            <a:off x="4512320" y="8734425"/>
            <a:ext cx="4816383" cy="523875"/>
          </a:xfrm>
          <a:prstGeom prst="rect">
            <a:avLst/>
          </a:prstGeom>
        </p:spPr>
        <p:txBody>
          <a:bodyPr lIns="0" tIns="0" rIns="0" bIns="0" rtlCol="0" anchor="t">
            <a:spAutoFit/>
          </a:bodyPr>
          <a:lstStyle/>
          <a:p>
            <a:pPr algn="l">
              <a:lnSpc>
                <a:spcPts val="4200"/>
              </a:lnSpc>
            </a:pPr>
            <a:r>
              <a:rPr lang="en-US" sz="3000" b="1" i="1">
                <a:solidFill>
                  <a:srgbClr val="FFFFFF"/>
                </a:solidFill>
                <a:latin typeface="HK Grotesk Bold Italics"/>
                <a:ea typeface="HK Grotesk Bold Italics"/>
                <a:cs typeface="HK Grotesk Bold Italics"/>
                <a:sym typeface="HK Grotesk Bold Italics"/>
              </a:rPr>
              <a:t>Team Name - WHIZZBANG</a:t>
            </a:r>
          </a:p>
        </p:txBody>
      </p:sp>
      <p:sp>
        <p:nvSpPr>
          <p:cNvPr id="7" name="TextBox 7"/>
          <p:cNvSpPr txBox="1"/>
          <p:nvPr/>
        </p:nvSpPr>
        <p:spPr>
          <a:xfrm>
            <a:off x="4710579" y="2510549"/>
            <a:ext cx="8350891" cy="1439608"/>
          </a:xfrm>
          <a:prstGeom prst="rect">
            <a:avLst/>
          </a:prstGeom>
        </p:spPr>
        <p:txBody>
          <a:bodyPr lIns="0" tIns="0" rIns="0" bIns="0" rtlCol="0" anchor="t">
            <a:spAutoFit/>
          </a:bodyPr>
          <a:lstStyle/>
          <a:p>
            <a:pPr algn="ctr">
              <a:lnSpc>
                <a:spcPts val="11247"/>
              </a:lnSpc>
            </a:pPr>
            <a:r>
              <a:rPr lang="en-US" sz="10006" b="1" i="1">
                <a:solidFill>
                  <a:srgbClr val="FFFFFF"/>
                </a:solidFill>
                <a:latin typeface="Glacial Indifference Bold Italics"/>
                <a:ea typeface="Glacial Indifference Bold Italics"/>
                <a:cs typeface="Glacial Indifference Bold Italics"/>
                <a:sym typeface="Glacial Indifference Bold Italics"/>
              </a:rPr>
              <a:t>See_k</a:t>
            </a:r>
          </a:p>
        </p:txBody>
      </p:sp>
      <p:sp>
        <p:nvSpPr>
          <p:cNvPr id="8" name="TextBox 8"/>
          <p:cNvSpPr txBox="1"/>
          <p:nvPr/>
        </p:nvSpPr>
        <p:spPr>
          <a:xfrm>
            <a:off x="4600350" y="9338336"/>
            <a:ext cx="4640323" cy="799033"/>
          </a:xfrm>
          <a:prstGeom prst="rect">
            <a:avLst/>
          </a:prstGeom>
        </p:spPr>
        <p:txBody>
          <a:bodyPr lIns="0" tIns="0" rIns="0" bIns="0" rtlCol="0" anchor="t">
            <a:spAutoFit/>
          </a:bodyPr>
          <a:lstStyle/>
          <a:p>
            <a:pPr algn="l">
              <a:lnSpc>
                <a:spcPts val="3208"/>
              </a:lnSpc>
            </a:pPr>
            <a:r>
              <a:rPr lang="en-US" sz="2292" i="1">
                <a:solidFill>
                  <a:srgbClr val="FFFFFF"/>
                </a:solidFill>
                <a:latin typeface="HK Grotesk Italics"/>
                <a:ea typeface="HK Grotesk Italics"/>
                <a:cs typeface="HK Grotesk Italics"/>
                <a:sym typeface="HK Grotesk Italics"/>
              </a:rPr>
              <a:t>ROHAN SINGH (E23CSEU0208) ANUSHKA AVANTI (E23CSEU0190)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2"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txBody>
          <a:bodyPr/>
          <a:lstStyle/>
          <a:p>
            <a:endParaRPr lang="en-IN"/>
          </a:p>
        </p:txBody>
      </p:sp>
      <p:sp>
        <p:nvSpPr>
          <p:cNvPr id="3" name="Freeform 3"/>
          <p:cNvSpPr/>
          <p:nvPr/>
        </p:nvSpPr>
        <p:spPr>
          <a:xfrm rot="5400000">
            <a:off x="2113645" y="-2113645"/>
            <a:ext cx="10286943" cy="14514224"/>
          </a:xfrm>
          <a:custGeom>
            <a:avLst/>
            <a:gdLst/>
            <a:ahLst/>
            <a:cxnLst/>
            <a:rect l="l" t="t" r="r" b="b"/>
            <a:pathLst>
              <a:path w="10286943" h="14514224">
                <a:moveTo>
                  <a:pt x="0" y="0"/>
                </a:moveTo>
                <a:lnTo>
                  <a:pt x="10286943" y="0"/>
                </a:lnTo>
                <a:lnTo>
                  <a:pt x="10286943" y="14514223"/>
                </a:lnTo>
                <a:lnTo>
                  <a:pt x="0" y="14514223"/>
                </a:lnTo>
                <a:lnTo>
                  <a:pt x="0" y="0"/>
                </a:lnTo>
                <a:close/>
              </a:path>
            </a:pathLst>
          </a:custGeom>
          <a:blipFill>
            <a:blip r:embed="rId3"/>
            <a:stretch>
              <a:fillRect b="-12"/>
            </a:stretch>
          </a:blipFill>
        </p:spPr>
        <p:txBody>
          <a:bodyPr/>
          <a:lstStyle/>
          <a:p>
            <a:endParaRPr lang="en-IN"/>
          </a:p>
        </p:txBody>
      </p:sp>
      <p:sp>
        <p:nvSpPr>
          <p:cNvPr id="4" name="Freeform 4"/>
          <p:cNvSpPr/>
          <p:nvPr/>
        </p:nvSpPr>
        <p:spPr>
          <a:xfrm>
            <a:off x="9204417" y="965197"/>
            <a:ext cx="8356597" cy="8356597"/>
          </a:xfrm>
          <a:custGeom>
            <a:avLst/>
            <a:gdLst/>
            <a:ahLst/>
            <a:cxnLst/>
            <a:rect l="l" t="t" r="r" b="b"/>
            <a:pathLst>
              <a:path w="8356597" h="8356597">
                <a:moveTo>
                  <a:pt x="0" y="0"/>
                </a:moveTo>
                <a:lnTo>
                  <a:pt x="8356597" y="0"/>
                </a:lnTo>
                <a:lnTo>
                  <a:pt x="8356597" y="8356597"/>
                </a:lnTo>
                <a:lnTo>
                  <a:pt x="0" y="835659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grpSp>
        <p:nvGrpSpPr>
          <p:cNvPr id="5" name="Group 5"/>
          <p:cNvGrpSpPr/>
          <p:nvPr/>
        </p:nvGrpSpPr>
        <p:grpSpPr>
          <a:xfrm>
            <a:off x="9579588" y="1340368"/>
            <a:ext cx="7606265" cy="7603055"/>
            <a:chOff x="0" y="0"/>
            <a:chExt cx="10141687" cy="10137407"/>
          </a:xfrm>
        </p:grpSpPr>
        <p:sp>
          <p:nvSpPr>
            <p:cNvPr id="6" name="Freeform 6"/>
            <p:cNvSpPr/>
            <p:nvPr/>
          </p:nvSpPr>
          <p:spPr>
            <a:xfrm>
              <a:off x="0" y="0"/>
              <a:ext cx="10141712" cy="10137394"/>
            </a:xfrm>
            <a:custGeom>
              <a:avLst/>
              <a:gdLst/>
              <a:ahLst/>
              <a:cxnLst/>
              <a:rect l="l" t="t" r="r" b="b"/>
              <a:pathLst>
                <a:path w="10141712" h="10137394">
                  <a:moveTo>
                    <a:pt x="5067554" y="0"/>
                  </a:moveTo>
                  <a:cubicBezTo>
                    <a:pt x="2268474" y="1778"/>
                    <a:pt x="0" y="2271395"/>
                    <a:pt x="0" y="5070856"/>
                  </a:cubicBezTo>
                  <a:cubicBezTo>
                    <a:pt x="0" y="7800975"/>
                    <a:pt x="2157476" y="10027158"/>
                    <a:pt x="4860544" y="10137394"/>
                  </a:cubicBezTo>
                  <a:lnTo>
                    <a:pt x="5281168" y="10137394"/>
                  </a:lnTo>
                  <a:cubicBezTo>
                    <a:pt x="7984236" y="10027158"/>
                    <a:pt x="10141712" y="7800975"/>
                    <a:pt x="10141712" y="5070856"/>
                  </a:cubicBezTo>
                  <a:cubicBezTo>
                    <a:pt x="10141712" y="2271395"/>
                    <a:pt x="7873111" y="1778"/>
                    <a:pt x="5074158" y="0"/>
                  </a:cubicBezTo>
                  <a:close/>
                </a:path>
              </a:pathLst>
            </a:custGeom>
            <a:blipFill>
              <a:blip r:embed="rId6"/>
              <a:stretch>
                <a:fillRect l="-25046" r="-25074"/>
              </a:stretch>
            </a:blipFill>
          </p:spPr>
          <p:txBody>
            <a:bodyPr/>
            <a:lstStyle/>
            <a:p>
              <a:endParaRPr lang="en-IN"/>
            </a:p>
          </p:txBody>
        </p:sp>
      </p:grpSp>
      <p:grpSp>
        <p:nvGrpSpPr>
          <p:cNvPr id="7" name="Group 7"/>
          <p:cNvGrpSpPr>
            <a:grpSpLocks noChangeAspect="1"/>
          </p:cNvGrpSpPr>
          <p:nvPr/>
        </p:nvGrpSpPr>
        <p:grpSpPr>
          <a:xfrm>
            <a:off x="1028700" y="2946273"/>
            <a:ext cx="4003034" cy="85725"/>
            <a:chOff x="0" y="0"/>
            <a:chExt cx="4003027" cy="85725"/>
          </a:xfrm>
        </p:grpSpPr>
        <p:sp>
          <p:nvSpPr>
            <p:cNvPr id="8" name="Freeform 8"/>
            <p:cNvSpPr/>
            <p:nvPr/>
          </p:nvSpPr>
          <p:spPr>
            <a:xfrm>
              <a:off x="0" y="0"/>
              <a:ext cx="4003040" cy="85725"/>
            </a:xfrm>
            <a:custGeom>
              <a:avLst/>
              <a:gdLst/>
              <a:ahLst/>
              <a:cxnLst/>
              <a:rect l="l" t="t" r="r" b="b"/>
              <a:pathLst>
                <a:path w="4003040" h="85725">
                  <a:moveTo>
                    <a:pt x="0" y="0"/>
                  </a:moveTo>
                  <a:lnTo>
                    <a:pt x="4003040" y="0"/>
                  </a:lnTo>
                  <a:lnTo>
                    <a:pt x="4003040" y="85725"/>
                  </a:lnTo>
                  <a:lnTo>
                    <a:pt x="0" y="85725"/>
                  </a:lnTo>
                  <a:close/>
                </a:path>
              </a:pathLst>
            </a:custGeom>
            <a:solidFill>
              <a:srgbClr val="FFFFFF"/>
            </a:solidFill>
          </p:spPr>
          <p:txBody>
            <a:bodyPr/>
            <a:lstStyle/>
            <a:p>
              <a:endParaRPr lang="en-IN"/>
            </a:p>
          </p:txBody>
        </p:sp>
      </p:grpSp>
      <p:grpSp>
        <p:nvGrpSpPr>
          <p:cNvPr id="9" name="Group 9"/>
          <p:cNvGrpSpPr>
            <a:grpSpLocks noChangeAspect="1"/>
          </p:cNvGrpSpPr>
          <p:nvPr/>
        </p:nvGrpSpPr>
        <p:grpSpPr>
          <a:xfrm>
            <a:off x="1028700" y="1927098"/>
            <a:ext cx="3898259" cy="85725"/>
            <a:chOff x="0" y="0"/>
            <a:chExt cx="3898252" cy="85725"/>
          </a:xfrm>
        </p:grpSpPr>
        <p:sp>
          <p:nvSpPr>
            <p:cNvPr id="10" name="Freeform 10"/>
            <p:cNvSpPr/>
            <p:nvPr/>
          </p:nvSpPr>
          <p:spPr>
            <a:xfrm>
              <a:off x="0" y="0"/>
              <a:ext cx="3898265" cy="85725"/>
            </a:xfrm>
            <a:custGeom>
              <a:avLst/>
              <a:gdLst/>
              <a:ahLst/>
              <a:cxnLst/>
              <a:rect l="l" t="t" r="r" b="b"/>
              <a:pathLst>
                <a:path w="3898265" h="85725">
                  <a:moveTo>
                    <a:pt x="0" y="0"/>
                  </a:moveTo>
                  <a:lnTo>
                    <a:pt x="3898265" y="0"/>
                  </a:lnTo>
                  <a:lnTo>
                    <a:pt x="3898265" y="85725"/>
                  </a:lnTo>
                  <a:lnTo>
                    <a:pt x="0" y="85725"/>
                  </a:lnTo>
                  <a:close/>
                </a:path>
              </a:pathLst>
            </a:custGeom>
            <a:solidFill>
              <a:srgbClr val="FFFFFF"/>
            </a:solidFill>
          </p:spPr>
          <p:txBody>
            <a:bodyPr/>
            <a:lstStyle/>
            <a:p>
              <a:endParaRPr lang="en-IN"/>
            </a:p>
          </p:txBody>
        </p:sp>
      </p:grpSp>
      <p:sp>
        <p:nvSpPr>
          <p:cNvPr id="11" name="TextBox 11"/>
          <p:cNvSpPr txBox="1"/>
          <p:nvPr/>
        </p:nvSpPr>
        <p:spPr>
          <a:xfrm>
            <a:off x="1028700" y="1070143"/>
            <a:ext cx="4083006" cy="2065210"/>
          </a:xfrm>
          <a:prstGeom prst="rect">
            <a:avLst/>
          </a:prstGeom>
        </p:spPr>
        <p:txBody>
          <a:bodyPr lIns="0" tIns="0" rIns="0" bIns="0" rtlCol="0" anchor="t">
            <a:spAutoFit/>
          </a:bodyPr>
          <a:lstStyle/>
          <a:p>
            <a:pPr algn="l">
              <a:lnSpc>
                <a:spcPts val="8024"/>
              </a:lnSpc>
            </a:pPr>
            <a:r>
              <a:rPr lang="en-US" sz="7113" b="1" dirty="0">
                <a:solidFill>
                  <a:srgbClr val="FFFFFF"/>
                </a:solidFill>
                <a:latin typeface="Glacial Indifference Bold Italics"/>
                <a:ea typeface="Glacial Indifference Bold Italics"/>
                <a:cs typeface="Glacial Indifference Bold Italics"/>
                <a:sym typeface="Glacial Indifference Bold Italics"/>
              </a:rPr>
              <a:t>TABLE OF CONTENT</a:t>
            </a:r>
          </a:p>
        </p:txBody>
      </p:sp>
      <p:sp>
        <p:nvSpPr>
          <p:cNvPr id="12" name="TextBox 12"/>
          <p:cNvSpPr txBox="1"/>
          <p:nvPr/>
        </p:nvSpPr>
        <p:spPr>
          <a:xfrm>
            <a:off x="1296743" y="4027837"/>
            <a:ext cx="4791827" cy="2613679"/>
          </a:xfrm>
          <a:prstGeom prst="rect">
            <a:avLst/>
          </a:prstGeom>
        </p:spPr>
        <p:txBody>
          <a:bodyPr lIns="0" tIns="0" rIns="0" bIns="0" rtlCol="0" anchor="t">
            <a:spAutoFit/>
          </a:bodyPr>
          <a:lstStyle/>
          <a:p>
            <a:pPr algn="l">
              <a:lnSpc>
                <a:spcPts val="4123"/>
              </a:lnSpc>
            </a:pPr>
            <a:r>
              <a:rPr lang="en-US" sz="2962" spc="20">
                <a:solidFill>
                  <a:srgbClr val="FFFFFF"/>
                </a:solidFill>
                <a:latin typeface="HK Grotesk"/>
                <a:ea typeface="HK Grotesk"/>
                <a:cs typeface="HK Grotesk"/>
                <a:sym typeface="HK Grotesk"/>
              </a:rPr>
              <a:t>1. Introduction 2. Motivation 3. Literature Review 4. Methodology Formulation 5. Results And Analysis</a:t>
            </a:r>
          </a:p>
        </p:txBody>
      </p:sp>
      <p:sp>
        <p:nvSpPr>
          <p:cNvPr id="13" name="TextBox 13"/>
          <p:cNvSpPr txBox="1"/>
          <p:nvPr/>
        </p:nvSpPr>
        <p:spPr>
          <a:xfrm>
            <a:off x="1028700" y="6647212"/>
            <a:ext cx="101375" cy="2089804"/>
          </a:xfrm>
          <a:prstGeom prst="rect">
            <a:avLst/>
          </a:prstGeom>
        </p:spPr>
        <p:txBody>
          <a:bodyPr lIns="0" tIns="0" rIns="0" bIns="0" rtlCol="0" anchor="t">
            <a:spAutoFit/>
          </a:bodyPr>
          <a:lstStyle/>
          <a:p>
            <a:pPr algn="just">
              <a:lnSpc>
                <a:spcPts val="4123"/>
              </a:lnSpc>
            </a:pPr>
            <a:r>
              <a:rPr lang="en-US" sz="2962">
                <a:solidFill>
                  <a:srgbClr val="FFFFFF"/>
                </a:solidFill>
                <a:latin typeface="HK Grotesk"/>
                <a:ea typeface="HK Grotesk"/>
                <a:cs typeface="HK Grotesk"/>
                <a:sym typeface="HK Grotesk"/>
              </a:rPr>
              <a:t> </a:t>
            </a:r>
          </a:p>
          <a:p>
            <a:pPr algn="just">
              <a:lnSpc>
                <a:spcPts val="4123"/>
              </a:lnSpc>
            </a:pPr>
            <a:r>
              <a:rPr lang="en-US" sz="2962">
                <a:solidFill>
                  <a:srgbClr val="FFFFFF"/>
                </a:solidFill>
                <a:latin typeface="HK Grotesk"/>
                <a:ea typeface="HK Grotesk"/>
                <a:cs typeface="HK Grotesk"/>
                <a:sym typeface="HK Grotesk"/>
              </a:rPr>
              <a:t> </a:t>
            </a:r>
          </a:p>
          <a:p>
            <a:pPr algn="just">
              <a:lnSpc>
                <a:spcPts val="4123"/>
              </a:lnSpc>
            </a:pPr>
            <a:r>
              <a:rPr lang="en-US" sz="2962">
                <a:solidFill>
                  <a:srgbClr val="FFFFFF"/>
                </a:solidFill>
                <a:latin typeface="HK Grotesk"/>
                <a:ea typeface="HK Grotesk"/>
                <a:cs typeface="HK Grotesk"/>
                <a:sym typeface="HK Grotesk"/>
              </a:rPr>
              <a:t> </a:t>
            </a:r>
          </a:p>
          <a:p>
            <a:pPr algn="just">
              <a:lnSpc>
                <a:spcPts val="4123"/>
              </a:lnSpc>
            </a:pPr>
            <a:r>
              <a:rPr lang="en-US" sz="2962">
                <a:solidFill>
                  <a:srgbClr val="FFFFFF"/>
                </a:solidFill>
                <a:latin typeface="HK Grotesk"/>
                <a:ea typeface="HK Grotesk"/>
                <a:cs typeface="HK Grotesk"/>
                <a:sym typeface="HK Grotesk"/>
              </a:rPr>
              <a:t> </a:t>
            </a:r>
          </a:p>
        </p:txBody>
      </p:sp>
      <p:sp>
        <p:nvSpPr>
          <p:cNvPr id="14" name="TextBox 14"/>
          <p:cNvSpPr txBox="1"/>
          <p:nvPr/>
        </p:nvSpPr>
        <p:spPr>
          <a:xfrm>
            <a:off x="1724473" y="6647212"/>
            <a:ext cx="4597403" cy="2089804"/>
          </a:xfrm>
          <a:prstGeom prst="rect">
            <a:avLst/>
          </a:prstGeom>
        </p:spPr>
        <p:txBody>
          <a:bodyPr lIns="0" tIns="0" rIns="0" bIns="0" rtlCol="0" anchor="t">
            <a:spAutoFit/>
          </a:bodyPr>
          <a:lstStyle/>
          <a:p>
            <a:pPr algn="l">
              <a:lnSpc>
                <a:spcPts val="4123"/>
              </a:lnSpc>
            </a:pPr>
            <a:r>
              <a:rPr lang="en-US" sz="2962">
                <a:solidFill>
                  <a:srgbClr val="FFFFFF"/>
                </a:solidFill>
                <a:latin typeface="HK Grotesk"/>
                <a:ea typeface="HK Grotesk"/>
                <a:cs typeface="HK Grotesk"/>
                <a:sym typeface="HK Grotesk"/>
              </a:rPr>
              <a:t>5.1 Experiment Setup 5.2 Dataset Description 5.3 Performance Measures 5.4 Results</a:t>
            </a:r>
          </a:p>
        </p:txBody>
      </p:sp>
      <p:sp>
        <p:nvSpPr>
          <p:cNvPr id="15" name="TextBox 15"/>
          <p:cNvSpPr txBox="1"/>
          <p:nvPr/>
        </p:nvSpPr>
        <p:spPr>
          <a:xfrm>
            <a:off x="1028700" y="8742712"/>
            <a:ext cx="2695318" cy="518179"/>
          </a:xfrm>
          <a:prstGeom prst="rect">
            <a:avLst/>
          </a:prstGeom>
        </p:spPr>
        <p:txBody>
          <a:bodyPr lIns="0" tIns="0" rIns="0" bIns="0" rtlCol="0" anchor="t">
            <a:spAutoFit/>
          </a:bodyPr>
          <a:lstStyle/>
          <a:p>
            <a:pPr algn="l">
              <a:lnSpc>
                <a:spcPts val="4123"/>
              </a:lnSpc>
            </a:pPr>
            <a:r>
              <a:rPr lang="en-US" sz="2962">
                <a:solidFill>
                  <a:srgbClr val="FFFFFF"/>
                </a:solidFill>
                <a:latin typeface="HK Grotesk"/>
                <a:ea typeface="HK Grotesk"/>
                <a:cs typeface="HK Grotesk"/>
                <a:sym typeface="HK Grotesk"/>
              </a:rPr>
              <a:t> 6. Conclusion</a:t>
            </a:r>
          </a:p>
        </p:txBody>
      </p:sp>
    </p:spTree>
  </p:cSld>
  <p:clrMapOvr>
    <a:masterClrMapping/>
  </p:clrMapOvr>
  <p:transition spd="med">
    <p:circl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a:p>
        </p:txBody>
      </p:sp>
      <p:sp>
        <p:nvSpPr>
          <p:cNvPr id="3" name="Freeform 3"/>
          <p:cNvSpPr/>
          <p:nvPr/>
        </p:nvSpPr>
        <p:spPr>
          <a:xfrm rot="5400000" flipV="1">
            <a:off x="5887383" y="-2113617"/>
            <a:ext cx="10286943" cy="14514166"/>
          </a:xfrm>
          <a:custGeom>
            <a:avLst/>
            <a:gdLst/>
            <a:ahLst/>
            <a:cxnLst/>
            <a:rect l="l" t="t" r="r" b="b"/>
            <a:pathLst>
              <a:path w="10286943" h="14514166">
                <a:moveTo>
                  <a:pt x="0" y="14514167"/>
                </a:moveTo>
                <a:lnTo>
                  <a:pt x="10286943" y="14514167"/>
                </a:lnTo>
                <a:lnTo>
                  <a:pt x="10286943" y="0"/>
                </a:lnTo>
                <a:lnTo>
                  <a:pt x="0" y="0"/>
                </a:lnTo>
                <a:lnTo>
                  <a:pt x="0" y="14514167"/>
                </a:lnTo>
                <a:close/>
              </a:path>
            </a:pathLst>
          </a:custGeom>
          <a:blipFill>
            <a:blip r:embed="rId3"/>
            <a:stretch>
              <a:fillRect t="-13"/>
            </a:stretch>
          </a:blipFill>
        </p:spPr>
        <p:txBody>
          <a:bodyPr/>
          <a:lstStyle/>
          <a:p>
            <a:endParaRPr lang="en-IN"/>
          </a:p>
        </p:txBody>
      </p:sp>
      <p:sp>
        <p:nvSpPr>
          <p:cNvPr id="4" name="Freeform 4"/>
          <p:cNvSpPr/>
          <p:nvPr/>
        </p:nvSpPr>
        <p:spPr>
          <a:xfrm flipH="1">
            <a:off x="2503961" y="1028700"/>
            <a:ext cx="4949876" cy="8229600"/>
          </a:xfrm>
          <a:custGeom>
            <a:avLst/>
            <a:gdLst/>
            <a:ahLst/>
            <a:cxnLst/>
            <a:rect l="l" t="t" r="r" b="b"/>
            <a:pathLst>
              <a:path w="4949876" h="8229600">
                <a:moveTo>
                  <a:pt x="4949875" y="0"/>
                </a:moveTo>
                <a:lnTo>
                  <a:pt x="0" y="0"/>
                </a:lnTo>
                <a:lnTo>
                  <a:pt x="0" y="8229600"/>
                </a:lnTo>
                <a:lnTo>
                  <a:pt x="4949875" y="8229600"/>
                </a:lnTo>
                <a:lnTo>
                  <a:pt x="4949875" y="0"/>
                </a:lnTo>
                <a:close/>
              </a:path>
            </a:pathLst>
          </a:custGeom>
          <a:blipFill>
            <a:blip r:embed="rId4"/>
            <a:stretch>
              <a:fillRect r="-63"/>
            </a:stretch>
          </a:blipFill>
        </p:spPr>
        <p:txBody>
          <a:bodyPr/>
          <a:lstStyle/>
          <a:p>
            <a:endParaRPr lang="en-IN"/>
          </a:p>
        </p:txBody>
      </p:sp>
      <p:grpSp>
        <p:nvGrpSpPr>
          <p:cNvPr id="5" name="Group 5"/>
          <p:cNvGrpSpPr>
            <a:grpSpLocks noChangeAspect="1"/>
          </p:cNvGrpSpPr>
          <p:nvPr/>
        </p:nvGrpSpPr>
        <p:grpSpPr>
          <a:xfrm>
            <a:off x="10240613" y="2482320"/>
            <a:ext cx="6382493" cy="85725"/>
            <a:chOff x="0" y="0"/>
            <a:chExt cx="6382499" cy="85725"/>
          </a:xfrm>
        </p:grpSpPr>
        <p:sp>
          <p:nvSpPr>
            <p:cNvPr id="6" name="Freeform 6"/>
            <p:cNvSpPr/>
            <p:nvPr/>
          </p:nvSpPr>
          <p:spPr>
            <a:xfrm>
              <a:off x="0" y="0"/>
              <a:ext cx="6382512" cy="85725"/>
            </a:xfrm>
            <a:custGeom>
              <a:avLst/>
              <a:gdLst/>
              <a:ahLst/>
              <a:cxnLst/>
              <a:rect l="l" t="t" r="r" b="b"/>
              <a:pathLst>
                <a:path w="6382512" h="85725">
                  <a:moveTo>
                    <a:pt x="0" y="0"/>
                  </a:moveTo>
                  <a:lnTo>
                    <a:pt x="6382512" y="0"/>
                  </a:lnTo>
                  <a:lnTo>
                    <a:pt x="6382512" y="85725"/>
                  </a:lnTo>
                  <a:lnTo>
                    <a:pt x="0" y="85725"/>
                  </a:lnTo>
                  <a:close/>
                </a:path>
              </a:pathLst>
            </a:custGeom>
            <a:solidFill>
              <a:srgbClr val="FFFFFF"/>
            </a:solidFill>
          </p:spPr>
          <p:txBody>
            <a:bodyPr/>
            <a:lstStyle/>
            <a:p>
              <a:endParaRPr lang="en-IN"/>
            </a:p>
          </p:txBody>
        </p:sp>
      </p:grpSp>
      <p:sp>
        <p:nvSpPr>
          <p:cNvPr id="7" name="TextBox 7"/>
          <p:cNvSpPr txBox="1"/>
          <p:nvPr/>
        </p:nvSpPr>
        <p:spPr>
          <a:xfrm>
            <a:off x="10176796" y="1348559"/>
            <a:ext cx="6510128" cy="1219486"/>
          </a:xfrm>
          <a:prstGeom prst="rect">
            <a:avLst/>
          </a:prstGeom>
        </p:spPr>
        <p:txBody>
          <a:bodyPr lIns="0" tIns="0" rIns="0" bIns="0" rtlCol="0" anchor="t">
            <a:spAutoFit/>
          </a:bodyPr>
          <a:lstStyle/>
          <a:p>
            <a:pPr algn="just">
              <a:lnSpc>
                <a:spcPts val="9959"/>
              </a:lnSpc>
            </a:pPr>
            <a:r>
              <a:rPr lang="en-US" sz="7113" b="1" dirty="0">
                <a:solidFill>
                  <a:srgbClr val="FFFFFF"/>
                </a:solidFill>
                <a:latin typeface="Glacial Indifference Bold Italics"/>
                <a:ea typeface="Glacial Indifference Bold Italics"/>
                <a:cs typeface="Glacial Indifference Bold Italics"/>
                <a:sym typeface="Glacial Indifference Bold Italics"/>
              </a:rPr>
              <a:t>INTRODUCTION</a:t>
            </a:r>
          </a:p>
        </p:txBody>
      </p:sp>
      <p:sp>
        <p:nvSpPr>
          <p:cNvPr id="8" name="TextBox 8"/>
          <p:cNvSpPr txBox="1"/>
          <p:nvPr/>
        </p:nvSpPr>
        <p:spPr>
          <a:xfrm>
            <a:off x="9619002" y="3129123"/>
            <a:ext cx="7625715" cy="5857875"/>
          </a:xfrm>
          <a:prstGeom prst="rect">
            <a:avLst/>
          </a:prstGeom>
        </p:spPr>
        <p:txBody>
          <a:bodyPr lIns="0" tIns="0" rIns="0" bIns="0" rtlCol="0" anchor="t">
            <a:spAutoFit/>
          </a:bodyPr>
          <a:lstStyle/>
          <a:p>
            <a:pPr algn="just">
              <a:lnSpc>
                <a:spcPts val="4200"/>
              </a:lnSpc>
            </a:pPr>
            <a:r>
              <a:rPr lang="en-US" sz="3000">
                <a:solidFill>
                  <a:srgbClr val="FFFFFF"/>
                </a:solidFill>
                <a:latin typeface="HK Grotesk"/>
                <a:ea typeface="HK Grotesk"/>
                <a:cs typeface="HK Grotesk"/>
                <a:sym typeface="HK Grotesk"/>
              </a:rPr>
              <a:t>This project introduces an intelligent health assistant that combines symptom analysis, lifestyle evaluation, and medical imaging to assess the risk of chronic conditions like diabetes, heart disease, and stroke. By leveraging NLP, machine learning, and deep learning, the system processes user input to estimate risk levels and guide users toward appropriate next steps — whether it’s uploading medical scans for further analysis or adopting lifestyle changes.</a:t>
            </a:r>
          </a:p>
        </p:txBody>
      </p:sp>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2"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txBody>
          <a:bodyPr/>
          <a:lstStyle/>
          <a:p>
            <a:endParaRPr lang="en-IN"/>
          </a:p>
        </p:txBody>
      </p:sp>
      <p:sp>
        <p:nvSpPr>
          <p:cNvPr id="3" name="Freeform 3"/>
          <p:cNvSpPr/>
          <p:nvPr/>
        </p:nvSpPr>
        <p:spPr>
          <a:xfrm>
            <a:off x="9144000" y="1148686"/>
            <a:ext cx="8115300" cy="7991475"/>
          </a:xfrm>
          <a:custGeom>
            <a:avLst/>
            <a:gdLst/>
            <a:ahLst/>
            <a:cxnLst/>
            <a:rect l="l" t="t" r="r" b="b"/>
            <a:pathLst>
              <a:path w="8115300" h="7991475">
                <a:moveTo>
                  <a:pt x="0" y="0"/>
                </a:moveTo>
                <a:lnTo>
                  <a:pt x="8115300" y="0"/>
                </a:lnTo>
                <a:lnTo>
                  <a:pt x="8115300" y="7991475"/>
                </a:lnTo>
                <a:lnTo>
                  <a:pt x="0" y="7991475"/>
                </a:lnTo>
                <a:lnTo>
                  <a:pt x="0" y="0"/>
                </a:lnTo>
                <a:close/>
              </a:path>
            </a:pathLst>
          </a:custGeom>
          <a:blipFill>
            <a:blip r:embed="rId3"/>
            <a:stretch>
              <a:fillRect/>
            </a:stretch>
          </a:blipFill>
        </p:spPr>
        <p:txBody>
          <a:bodyPr/>
          <a:lstStyle/>
          <a:p>
            <a:endParaRPr lang="en-IN"/>
          </a:p>
        </p:txBody>
      </p:sp>
      <p:grpSp>
        <p:nvGrpSpPr>
          <p:cNvPr id="4" name="Group 4"/>
          <p:cNvGrpSpPr>
            <a:grpSpLocks noChangeAspect="1"/>
          </p:cNvGrpSpPr>
          <p:nvPr/>
        </p:nvGrpSpPr>
        <p:grpSpPr>
          <a:xfrm>
            <a:off x="1028700" y="1505874"/>
            <a:ext cx="5529710" cy="85725"/>
            <a:chOff x="0" y="0"/>
            <a:chExt cx="5529707" cy="85725"/>
          </a:xfrm>
        </p:grpSpPr>
        <p:sp>
          <p:nvSpPr>
            <p:cNvPr id="5" name="Freeform 5"/>
            <p:cNvSpPr/>
            <p:nvPr/>
          </p:nvSpPr>
          <p:spPr>
            <a:xfrm>
              <a:off x="0" y="0"/>
              <a:ext cx="5529707" cy="85725"/>
            </a:xfrm>
            <a:custGeom>
              <a:avLst/>
              <a:gdLst/>
              <a:ahLst/>
              <a:cxnLst/>
              <a:rect l="l" t="t" r="r" b="b"/>
              <a:pathLst>
                <a:path w="5529707" h="85725">
                  <a:moveTo>
                    <a:pt x="0" y="0"/>
                  </a:moveTo>
                  <a:lnTo>
                    <a:pt x="5529707" y="0"/>
                  </a:lnTo>
                  <a:lnTo>
                    <a:pt x="5529707" y="85725"/>
                  </a:lnTo>
                  <a:lnTo>
                    <a:pt x="0" y="85725"/>
                  </a:lnTo>
                  <a:close/>
                </a:path>
              </a:pathLst>
            </a:custGeom>
            <a:solidFill>
              <a:srgbClr val="FFFFFF"/>
            </a:solidFill>
          </p:spPr>
          <p:txBody>
            <a:bodyPr/>
            <a:lstStyle/>
            <a:p>
              <a:endParaRPr lang="en-IN"/>
            </a:p>
          </p:txBody>
        </p:sp>
      </p:grpSp>
      <p:grpSp>
        <p:nvGrpSpPr>
          <p:cNvPr id="6" name="Group 6"/>
          <p:cNvGrpSpPr>
            <a:grpSpLocks noChangeAspect="1"/>
          </p:cNvGrpSpPr>
          <p:nvPr/>
        </p:nvGrpSpPr>
        <p:grpSpPr>
          <a:xfrm>
            <a:off x="1344339" y="2808989"/>
            <a:ext cx="102118" cy="102118"/>
            <a:chOff x="0" y="0"/>
            <a:chExt cx="102121" cy="102121"/>
          </a:xfrm>
        </p:grpSpPr>
        <p:sp>
          <p:nvSpPr>
            <p:cNvPr id="7" name="Freeform 7"/>
            <p:cNvSpPr/>
            <p:nvPr/>
          </p:nvSpPr>
          <p:spPr>
            <a:xfrm>
              <a:off x="0" y="0"/>
              <a:ext cx="102108" cy="102108"/>
            </a:xfrm>
            <a:custGeom>
              <a:avLst/>
              <a:gdLst/>
              <a:ahLst/>
              <a:cxnLst/>
              <a:rect l="l" t="t" r="r" b="b"/>
              <a:pathLst>
                <a:path w="102108" h="102108">
                  <a:moveTo>
                    <a:pt x="102108" y="51054"/>
                  </a:moveTo>
                  <a:cubicBezTo>
                    <a:pt x="102108" y="54356"/>
                    <a:pt x="101727" y="57785"/>
                    <a:pt x="101092" y="60960"/>
                  </a:cubicBezTo>
                  <a:cubicBezTo>
                    <a:pt x="100457" y="64135"/>
                    <a:pt x="99441" y="67437"/>
                    <a:pt x="98171" y="70485"/>
                  </a:cubicBezTo>
                  <a:cubicBezTo>
                    <a:pt x="96901" y="73533"/>
                    <a:pt x="95377" y="76581"/>
                    <a:pt x="93472" y="79375"/>
                  </a:cubicBezTo>
                  <a:cubicBezTo>
                    <a:pt x="91567" y="82169"/>
                    <a:pt x="89535" y="84709"/>
                    <a:pt x="87122" y="87122"/>
                  </a:cubicBezTo>
                  <a:cubicBezTo>
                    <a:pt x="84709" y="89535"/>
                    <a:pt x="82169" y="91567"/>
                    <a:pt x="79375" y="93472"/>
                  </a:cubicBezTo>
                  <a:cubicBezTo>
                    <a:pt x="76581" y="95377"/>
                    <a:pt x="73660" y="96901"/>
                    <a:pt x="70485" y="98171"/>
                  </a:cubicBezTo>
                  <a:cubicBezTo>
                    <a:pt x="67310" y="99441"/>
                    <a:pt x="64135" y="100457"/>
                    <a:pt x="60960" y="101092"/>
                  </a:cubicBezTo>
                  <a:cubicBezTo>
                    <a:pt x="57785" y="101727"/>
                    <a:pt x="54356" y="102108"/>
                    <a:pt x="51054" y="102108"/>
                  </a:cubicBezTo>
                  <a:cubicBezTo>
                    <a:pt x="47752" y="102108"/>
                    <a:pt x="44323" y="101727"/>
                    <a:pt x="41148" y="101092"/>
                  </a:cubicBezTo>
                  <a:cubicBezTo>
                    <a:pt x="37973" y="100457"/>
                    <a:pt x="34671" y="99441"/>
                    <a:pt x="31623" y="98171"/>
                  </a:cubicBezTo>
                  <a:cubicBezTo>
                    <a:pt x="28575" y="96901"/>
                    <a:pt x="25527" y="95377"/>
                    <a:pt x="22733" y="93472"/>
                  </a:cubicBezTo>
                  <a:cubicBezTo>
                    <a:pt x="19939" y="91567"/>
                    <a:pt x="17399" y="89535"/>
                    <a:pt x="14986" y="87122"/>
                  </a:cubicBezTo>
                  <a:cubicBezTo>
                    <a:pt x="12573" y="84709"/>
                    <a:pt x="10541" y="82169"/>
                    <a:pt x="8636" y="79375"/>
                  </a:cubicBezTo>
                  <a:cubicBezTo>
                    <a:pt x="6731" y="76581"/>
                    <a:pt x="5207" y="73660"/>
                    <a:pt x="3937" y="70485"/>
                  </a:cubicBezTo>
                  <a:cubicBezTo>
                    <a:pt x="2667" y="67310"/>
                    <a:pt x="1651" y="64135"/>
                    <a:pt x="1016" y="60960"/>
                  </a:cubicBezTo>
                  <a:cubicBezTo>
                    <a:pt x="381" y="57785"/>
                    <a:pt x="0" y="54356"/>
                    <a:pt x="0" y="51054"/>
                  </a:cubicBezTo>
                  <a:cubicBezTo>
                    <a:pt x="0" y="47752"/>
                    <a:pt x="381" y="44323"/>
                    <a:pt x="1016" y="41148"/>
                  </a:cubicBezTo>
                  <a:cubicBezTo>
                    <a:pt x="1651" y="37973"/>
                    <a:pt x="2667" y="34671"/>
                    <a:pt x="3937" y="31623"/>
                  </a:cubicBezTo>
                  <a:cubicBezTo>
                    <a:pt x="5207" y="28575"/>
                    <a:pt x="6731" y="25527"/>
                    <a:pt x="8636" y="22733"/>
                  </a:cubicBezTo>
                  <a:cubicBezTo>
                    <a:pt x="10541" y="19939"/>
                    <a:pt x="12573" y="17399"/>
                    <a:pt x="14986" y="14986"/>
                  </a:cubicBezTo>
                  <a:cubicBezTo>
                    <a:pt x="17399" y="12573"/>
                    <a:pt x="19939" y="10541"/>
                    <a:pt x="22733" y="8636"/>
                  </a:cubicBezTo>
                  <a:cubicBezTo>
                    <a:pt x="25527" y="6731"/>
                    <a:pt x="28448" y="5207"/>
                    <a:pt x="31623" y="3937"/>
                  </a:cubicBezTo>
                  <a:cubicBezTo>
                    <a:pt x="34798" y="2667"/>
                    <a:pt x="37973" y="1651"/>
                    <a:pt x="41148" y="1016"/>
                  </a:cubicBezTo>
                  <a:cubicBezTo>
                    <a:pt x="44323" y="381"/>
                    <a:pt x="47752" y="0"/>
                    <a:pt x="51054" y="0"/>
                  </a:cubicBezTo>
                  <a:cubicBezTo>
                    <a:pt x="54356" y="0"/>
                    <a:pt x="57785" y="381"/>
                    <a:pt x="60960" y="1016"/>
                  </a:cubicBezTo>
                  <a:cubicBezTo>
                    <a:pt x="64135" y="1651"/>
                    <a:pt x="67437" y="2667"/>
                    <a:pt x="70485" y="3937"/>
                  </a:cubicBezTo>
                  <a:cubicBezTo>
                    <a:pt x="73533" y="5207"/>
                    <a:pt x="76581" y="6731"/>
                    <a:pt x="79375" y="8636"/>
                  </a:cubicBezTo>
                  <a:cubicBezTo>
                    <a:pt x="82169" y="10541"/>
                    <a:pt x="84709" y="12573"/>
                    <a:pt x="87122" y="14986"/>
                  </a:cubicBezTo>
                  <a:cubicBezTo>
                    <a:pt x="89535" y="17399"/>
                    <a:pt x="91567" y="19939"/>
                    <a:pt x="93472" y="22733"/>
                  </a:cubicBezTo>
                  <a:cubicBezTo>
                    <a:pt x="95377" y="25527"/>
                    <a:pt x="96901" y="28448"/>
                    <a:pt x="98171" y="31623"/>
                  </a:cubicBezTo>
                  <a:cubicBezTo>
                    <a:pt x="99441" y="34798"/>
                    <a:pt x="100457" y="37973"/>
                    <a:pt x="101092" y="41148"/>
                  </a:cubicBezTo>
                  <a:cubicBezTo>
                    <a:pt x="101727" y="44323"/>
                    <a:pt x="102108" y="47752"/>
                    <a:pt x="102108" y="51054"/>
                  </a:cubicBezTo>
                  <a:close/>
                </a:path>
              </a:pathLst>
            </a:custGeom>
            <a:solidFill>
              <a:srgbClr val="FFFFFF"/>
            </a:solidFill>
          </p:spPr>
          <p:txBody>
            <a:bodyPr/>
            <a:lstStyle/>
            <a:p>
              <a:endParaRPr lang="en-IN"/>
            </a:p>
          </p:txBody>
        </p:sp>
      </p:grpSp>
      <p:grpSp>
        <p:nvGrpSpPr>
          <p:cNvPr id="8" name="Group 8"/>
          <p:cNvGrpSpPr>
            <a:grpSpLocks noChangeAspect="1"/>
          </p:cNvGrpSpPr>
          <p:nvPr/>
        </p:nvGrpSpPr>
        <p:grpSpPr>
          <a:xfrm>
            <a:off x="1344339" y="5222672"/>
            <a:ext cx="102118" cy="102118"/>
            <a:chOff x="0" y="0"/>
            <a:chExt cx="102121" cy="102121"/>
          </a:xfrm>
        </p:grpSpPr>
        <p:sp>
          <p:nvSpPr>
            <p:cNvPr id="9" name="Freeform 9"/>
            <p:cNvSpPr/>
            <p:nvPr/>
          </p:nvSpPr>
          <p:spPr>
            <a:xfrm>
              <a:off x="0" y="0"/>
              <a:ext cx="102108" cy="102108"/>
            </a:xfrm>
            <a:custGeom>
              <a:avLst/>
              <a:gdLst/>
              <a:ahLst/>
              <a:cxnLst/>
              <a:rect l="l" t="t" r="r" b="b"/>
              <a:pathLst>
                <a:path w="102108" h="102108">
                  <a:moveTo>
                    <a:pt x="102108" y="51054"/>
                  </a:moveTo>
                  <a:cubicBezTo>
                    <a:pt x="102108" y="54356"/>
                    <a:pt x="101727" y="57785"/>
                    <a:pt x="101092" y="60960"/>
                  </a:cubicBezTo>
                  <a:cubicBezTo>
                    <a:pt x="100457" y="64135"/>
                    <a:pt x="99441" y="67437"/>
                    <a:pt x="98171" y="70485"/>
                  </a:cubicBezTo>
                  <a:cubicBezTo>
                    <a:pt x="96901" y="73533"/>
                    <a:pt x="95377" y="76581"/>
                    <a:pt x="93472" y="79375"/>
                  </a:cubicBezTo>
                  <a:cubicBezTo>
                    <a:pt x="91567" y="82169"/>
                    <a:pt x="89535" y="84709"/>
                    <a:pt x="87122" y="87122"/>
                  </a:cubicBezTo>
                  <a:cubicBezTo>
                    <a:pt x="84709" y="89535"/>
                    <a:pt x="82169" y="91567"/>
                    <a:pt x="79375" y="93472"/>
                  </a:cubicBezTo>
                  <a:cubicBezTo>
                    <a:pt x="76581" y="95377"/>
                    <a:pt x="73660" y="96901"/>
                    <a:pt x="70485" y="98171"/>
                  </a:cubicBezTo>
                  <a:cubicBezTo>
                    <a:pt x="67310" y="99441"/>
                    <a:pt x="64135" y="100457"/>
                    <a:pt x="60960" y="101092"/>
                  </a:cubicBezTo>
                  <a:cubicBezTo>
                    <a:pt x="57785" y="101727"/>
                    <a:pt x="54356" y="102108"/>
                    <a:pt x="51054" y="102108"/>
                  </a:cubicBezTo>
                  <a:cubicBezTo>
                    <a:pt x="47752" y="102108"/>
                    <a:pt x="44323" y="101727"/>
                    <a:pt x="41148" y="101092"/>
                  </a:cubicBezTo>
                  <a:cubicBezTo>
                    <a:pt x="37973" y="100457"/>
                    <a:pt x="34671" y="99441"/>
                    <a:pt x="31623" y="98171"/>
                  </a:cubicBezTo>
                  <a:cubicBezTo>
                    <a:pt x="28575" y="96901"/>
                    <a:pt x="25527" y="95377"/>
                    <a:pt x="22733" y="93472"/>
                  </a:cubicBezTo>
                  <a:cubicBezTo>
                    <a:pt x="19939" y="91567"/>
                    <a:pt x="17399" y="89535"/>
                    <a:pt x="14986" y="87122"/>
                  </a:cubicBezTo>
                  <a:cubicBezTo>
                    <a:pt x="12573" y="84709"/>
                    <a:pt x="10541" y="82169"/>
                    <a:pt x="8636" y="79375"/>
                  </a:cubicBezTo>
                  <a:cubicBezTo>
                    <a:pt x="6731" y="76581"/>
                    <a:pt x="5207" y="73660"/>
                    <a:pt x="3937" y="70485"/>
                  </a:cubicBezTo>
                  <a:cubicBezTo>
                    <a:pt x="2667" y="67310"/>
                    <a:pt x="1651" y="64135"/>
                    <a:pt x="1016" y="60960"/>
                  </a:cubicBezTo>
                  <a:cubicBezTo>
                    <a:pt x="381" y="57785"/>
                    <a:pt x="0" y="54356"/>
                    <a:pt x="0" y="51054"/>
                  </a:cubicBezTo>
                  <a:cubicBezTo>
                    <a:pt x="0" y="47752"/>
                    <a:pt x="381" y="44323"/>
                    <a:pt x="1016" y="41148"/>
                  </a:cubicBezTo>
                  <a:cubicBezTo>
                    <a:pt x="1651" y="37973"/>
                    <a:pt x="2667" y="34671"/>
                    <a:pt x="3937" y="31623"/>
                  </a:cubicBezTo>
                  <a:cubicBezTo>
                    <a:pt x="5207" y="28575"/>
                    <a:pt x="6731" y="25527"/>
                    <a:pt x="8636" y="22733"/>
                  </a:cubicBezTo>
                  <a:cubicBezTo>
                    <a:pt x="10541" y="19939"/>
                    <a:pt x="12573" y="17399"/>
                    <a:pt x="14986" y="14986"/>
                  </a:cubicBezTo>
                  <a:cubicBezTo>
                    <a:pt x="17399" y="12573"/>
                    <a:pt x="19939" y="10541"/>
                    <a:pt x="22733" y="8636"/>
                  </a:cubicBezTo>
                  <a:cubicBezTo>
                    <a:pt x="25527" y="6731"/>
                    <a:pt x="28448" y="5207"/>
                    <a:pt x="31623" y="3937"/>
                  </a:cubicBezTo>
                  <a:cubicBezTo>
                    <a:pt x="34798" y="2667"/>
                    <a:pt x="37973" y="1651"/>
                    <a:pt x="41148" y="1016"/>
                  </a:cubicBezTo>
                  <a:cubicBezTo>
                    <a:pt x="44323" y="381"/>
                    <a:pt x="47752" y="0"/>
                    <a:pt x="51054" y="0"/>
                  </a:cubicBezTo>
                  <a:cubicBezTo>
                    <a:pt x="54356" y="0"/>
                    <a:pt x="57785" y="381"/>
                    <a:pt x="60960" y="1016"/>
                  </a:cubicBezTo>
                  <a:cubicBezTo>
                    <a:pt x="64135" y="1651"/>
                    <a:pt x="67437" y="2667"/>
                    <a:pt x="70485" y="3937"/>
                  </a:cubicBezTo>
                  <a:cubicBezTo>
                    <a:pt x="73533" y="5207"/>
                    <a:pt x="76581" y="6731"/>
                    <a:pt x="79375" y="8636"/>
                  </a:cubicBezTo>
                  <a:cubicBezTo>
                    <a:pt x="82169" y="10541"/>
                    <a:pt x="84709" y="12573"/>
                    <a:pt x="87122" y="14986"/>
                  </a:cubicBezTo>
                  <a:cubicBezTo>
                    <a:pt x="89535" y="17399"/>
                    <a:pt x="91567" y="19939"/>
                    <a:pt x="93472" y="22733"/>
                  </a:cubicBezTo>
                  <a:cubicBezTo>
                    <a:pt x="95377" y="25527"/>
                    <a:pt x="96901" y="28448"/>
                    <a:pt x="98171" y="31623"/>
                  </a:cubicBezTo>
                  <a:cubicBezTo>
                    <a:pt x="99441" y="34798"/>
                    <a:pt x="100457" y="37973"/>
                    <a:pt x="101092" y="41148"/>
                  </a:cubicBezTo>
                  <a:cubicBezTo>
                    <a:pt x="101727" y="44323"/>
                    <a:pt x="102108" y="47752"/>
                    <a:pt x="102108" y="51054"/>
                  </a:cubicBezTo>
                  <a:close/>
                </a:path>
              </a:pathLst>
            </a:custGeom>
            <a:solidFill>
              <a:srgbClr val="FFFFFF"/>
            </a:solidFill>
          </p:spPr>
          <p:txBody>
            <a:bodyPr/>
            <a:lstStyle/>
            <a:p>
              <a:endParaRPr lang="en-IN"/>
            </a:p>
          </p:txBody>
        </p:sp>
      </p:grpSp>
      <p:grpSp>
        <p:nvGrpSpPr>
          <p:cNvPr id="10" name="Group 10"/>
          <p:cNvGrpSpPr>
            <a:grpSpLocks noChangeAspect="1"/>
          </p:cNvGrpSpPr>
          <p:nvPr/>
        </p:nvGrpSpPr>
        <p:grpSpPr>
          <a:xfrm>
            <a:off x="1344339" y="7636364"/>
            <a:ext cx="102118" cy="102118"/>
            <a:chOff x="0" y="0"/>
            <a:chExt cx="102121" cy="102121"/>
          </a:xfrm>
        </p:grpSpPr>
        <p:sp>
          <p:nvSpPr>
            <p:cNvPr id="11" name="Freeform 11"/>
            <p:cNvSpPr/>
            <p:nvPr/>
          </p:nvSpPr>
          <p:spPr>
            <a:xfrm>
              <a:off x="0" y="0"/>
              <a:ext cx="102108" cy="102108"/>
            </a:xfrm>
            <a:custGeom>
              <a:avLst/>
              <a:gdLst/>
              <a:ahLst/>
              <a:cxnLst/>
              <a:rect l="l" t="t" r="r" b="b"/>
              <a:pathLst>
                <a:path w="102108" h="102108">
                  <a:moveTo>
                    <a:pt x="102108" y="51054"/>
                  </a:moveTo>
                  <a:cubicBezTo>
                    <a:pt x="102108" y="54356"/>
                    <a:pt x="101727" y="57785"/>
                    <a:pt x="101092" y="60960"/>
                  </a:cubicBezTo>
                  <a:cubicBezTo>
                    <a:pt x="100457" y="64135"/>
                    <a:pt x="99441" y="67437"/>
                    <a:pt x="98171" y="70485"/>
                  </a:cubicBezTo>
                  <a:cubicBezTo>
                    <a:pt x="96901" y="73533"/>
                    <a:pt x="95377" y="76581"/>
                    <a:pt x="93472" y="79375"/>
                  </a:cubicBezTo>
                  <a:cubicBezTo>
                    <a:pt x="91567" y="82169"/>
                    <a:pt x="89535" y="84709"/>
                    <a:pt x="87122" y="87122"/>
                  </a:cubicBezTo>
                  <a:cubicBezTo>
                    <a:pt x="84709" y="89535"/>
                    <a:pt x="82169" y="91567"/>
                    <a:pt x="79375" y="93472"/>
                  </a:cubicBezTo>
                  <a:cubicBezTo>
                    <a:pt x="76581" y="95377"/>
                    <a:pt x="73660" y="96901"/>
                    <a:pt x="70485" y="98171"/>
                  </a:cubicBezTo>
                  <a:cubicBezTo>
                    <a:pt x="67310" y="99441"/>
                    <a:pt x="64135" y="100457"/>
                    <a:pt x="60960" y="101092"/>
                  </a:cubicBezTo>
                  <a:cubicBezTo>
                    <a:pt x="57785" y="101727"/>
                    <a:pt x="54356" y="102108"/>
                    <a:pt x="51054" y="102108"/>
                  </a:cubicBezTo>
                  <a:cubicBezTo>
                    <a:pt x="47752" y="102108"/>
                    <a:pt x="44323" y="101727"/>
                    <a:pt x="41148" y="101092"/>
                  </a:cubicBezTo>
                  <a:cubicBezTo>
                    <a:pt x="37973" y="100457"/>
                    <a:pt x="34671" y="99441"/>
                    <a:pt x="31623" y="98171"/>
                  </a:cubicBezTo>
                  <a:cubicBezTo>
                    <a:pt x="28575" y="96901"/>
                    <a:pt x="25527" y="95377"/>
                    <a:pt x="22733" y="93472"/>
                  </a:cubicBezTo>
                  <a:cubicBezTo>
                    <a:pt x="19939" y="91567"/>
                    <a:pt x="17399" y="89535"/>
                    <a:pt x="14986" y="87122"/>
                  </a:cubicBezTo>
                  <a:cubicBezTo>
                    <a:pt x="12573" y="84709"/>
                    <a:pt x="10541" y="82169"/>
                    <a:pt x="8636" y="79375"/>
                  </a:cubicBezTo>
                  <a:cubicBezTo>
                    <a:pt x="6731" y="76581"/>
                    <a:pt x="5207" y="73660"/>
                    <a:pt x="3937" y="70485"/>
                  </a:cubicBezTo>
                  <a:cubicBezTo>
                    <a:pt x="2667" y="67310"/>
                    <a:pt x="1651" y="64135"/>
                    <a:pt x="1016" y="60960"/>
                  </a:cubicBezTo>
                  <a:cubicBezTo>
                    <a:pt x="381" y="57785"/>
                    <a:pt x="0" y="54356"/>
                    <a:pt x="0" y="51054"/>
                  </a:cubicBezTo>
                  <a:cubicBezTo>
                    <a:pt x="0" y="47752"/>
                    <a:pt x="381" y="44323"/>
                    <a:pt x="1016" y="41148"/>
                  </a:cubicBezTo>
                  <a:cubicBezTo>
                    <a:pt x="1651" y="37973"/>
                    <a:pt x="2667" y="34671"/>
                    <a:pt x="3937" y="31623"/>
                  </a:cubicBezTo>
                  <a:cubicBezTo>
                    <a:pt x="5207" y="28575"/>
                    <a:pt x="6731" y="25527"/>
                    <a:pt x="8636" y="22733"/>
                  </a:cubicBezTo>
                  <a:cubicBezTo>
                    <a:pt x="10541" y="19939"/>
                    <a:pt x="12573" y="17399"/>
                    <a:pt x="14986" y="14986"/>
                  </a:cubicBezTo>
                  <a:cubicBezTo>
                    <a:pt x="17399" y="12573"/>
                    <a:pt x="19939" y="10541"/>
                    <a:pt x="22733" y="8636"/>
                  </a:cubicBezTo>
                  <a:cubicBezTo>
                    <a:pt x="25527" y="6731"/>
                    <a:pt x="28448" y="5207"/>
                    <a:pt x="31623" y="3937"/>
                  </a:cubicBezTo>
                  <a:cubicBezTo>
                    <a:pt x="34798" y="2667"/>
                    <a:pt x="37973" y="1651"/>
                    <a:pt x="41148" y="1016"/>
                  </a:cubicBezTo>
                  <a:cubicBezTo>
                    <a:pt x="44323" y="381"/>
                    <a:pt x="47752" y="0"/>
                    <a:pt x="51054" y="0"/>
                  </a:cubicBezTo>
                  <a:cubicBezTo>
                    <a:pt x="54356" y="0"/>
                    <a:pt x="57785" y="381"/>
                    <a:pt x="60960" y="1016"/>
                  </a:cubicBezTo>
                  <a:cubicBezTo>
                    <a:pt x="64135" y="1651"/>
                    <a:pt x="67437" y="2667"/>
                    <a:pt x="70485" y="3937"/>
                  </a:cubicBezTo>
                  <a:cubicBezTo>
                    <a:pt x="73533" y="5207"/>
                    <a:pt x="76581" y="6731"/>
                    <a:pt x="79375" y="8636"/>
                  </a:cubicBezTo>
                  <a:cubicBezTo>
                    <a:pt x="82169" y="10541"/>
                    <a:pt x="84709" y="12573"/>
                    <a:pt x="87122" y="14986"/>
                  </a:cubicBezTo>
                  <a:cubicBezTo>
                    <a:pt x="89535" y="17399"/>
                    <a:pt x="91567" y="19939"/>
                    <a:pt x="93472" y="22733"/>
                  </a:cubicBezTo>
                  <a:cubicBezTo>
                    <a:pt x="95377" y="25527"/>
                    <a:pt x="96901" y="28448"/>
                    <a:pt x="98171" y="31623"/>
                  </a:cubicBezTo>
                  <a:cubicBezTo>
                    <a:pt x="99441" y="34798"/>
                    <a:pt x="100457" y="37973"/>
                    <a:pt x="101092" y="41148"/>
                  </a:cubicBezTo>
                  <a:cubicBezTo>
                    <a:pt x="101727" y="44323"/>
                    <a:pt x="102108" y="47752"/>
                    <a:pt x="102108" y="51054"/>
                  </a:cubicBezTo>
                  <a:close/>
                </a:path>
              </a:pathLst>
            </a:custGeom>
            <a:solidFill>
              <a:srgbClr val="FFFFFF"/>
            </a:solidFill>
          </p:spPr>
          <p:txBody>
            <a:bodyPr/>
            <a:lstStyle/>
            <a:p>
              <a:endParaRPr lang="en-IN"/>
            </a:p>
          </p:txBody>
        </p:sp>
      </p:grpSp>
      <p:sp>
        <p:nvSpPr>
          <p:cNvPr id="12" name="TextBox 12"/>
          <p:cNvSpPr txBox="1"/>
          <p:nvPr/>
        </p:nvSpPr>
        <p:spPr>
          <a:xfrm>
            <a:off x="1028700" y="467944"/>
            <a:ext cx="5640267" cy="1227011"/>
          </a:xfrm>
          <a:prstGeom prst="rect">
            <a:avLst/>
          </a:prstGeom>
        </p:spPr>
        <p:txBody>
          <a:bodyPr lIns="0" tIns="0" rIns="0" bIns="0" rtlCol="0" anchor="t">
            <a:spAutoFit/>
          </a:bodyPr>
          <a:lstStyle/>
          <a:p>
            <a:pPr algn="l">
              <a:lnSpc>
                <a:spcPts val="9959"/>
              </a:lnSpc>
            </a:pPr>
            <a:r>
              <a:rPr lang="en-US" sz="7113" b="1" dirty="0">
                <a:solidFill>
                  <a:srgbClr val="FFFFFF"/>
                </a:solidFill>
                <a:latin typeface="Glacial Indifference Bold Italics"/>
                <a:ea typeface="Glacial Indifference Bold Italics"/>
                <a:cs typeface="Glacial Indifference Bold Italics"/>
                <a:sym typeface="Glacial Indifference Bold Italics"/>
              </a:rPr>
              <a:t>MOTIVATION</a:t>
            </a:r>
          </a:p>
        </p:txBody>
      </p:sp>
      <p:sp>
        <p:nvSpPr>
          <p:cNvPr id="13" name="TextBox 13"/>
          <p:cNvSpPr txBox="1"/>
          <p:nvPr/>
        </p:nvSpPr>
        <p:spPr>
          <a:xfrm>
            <a:off x="1275578" y="2097653"/>
            <a:ext cx="4867589" cy="474716"/>
          </a:xfrm>
          <a:prstGeom prst="rect">
            <a:avLst/>
          </a:prstGeom>
        </p:spPr>
        <p:txBody>
          <a:bodyPr lIns="0" tIns="0" rIns="0" bIns="0" rtlCol="0" anchor="t">
            <a:spAutoFit/>
          </a:bodyPr>
          <a:lstStyle/>
          <a:p>
            <a:pPr algn="l">
              <a:lnSpc>
                <a:spcPts val="3801"/>
              </a:lnSpc>
            </a:pPr>
            <a:r>
              <a:rPr lang="en-US" sz="2728" spc="8">
                <a:solidFill>
                  <a:srgbClr val="FFFFFF"/>
                </a:solidFill>
                <a:latin typeface="HK Grotesk"/>
                <a:ea typeface="HK Grotesk"/>
                <a:cs typeface="HK Grotesk"/>
                <a:sym typeface="HK Grotesk"/>
              </a:rPr>
              <a:t>1.</a:t>
            </a:r>
            <a:r>
              <a:rPr lang="en-US" sz="2728" b="1" spc="8">
                <a:solidFill>
                  <a:srgbClr val="FFFFFF"/>
                </a:solidFill>
                <a:latin typeface="HK Grotesk Bold"/>
                <a:ea typeface="HK Grotesk Bold"/>
                <a:cs typeface="HK Grotesk Bold"/>
                <a:sym typeface="HK Grotesk Bold"/>
              </a:rPr>
              <a:t>Rising Chronic Disease Rates</a:t>
            </a:r>
          </a:p>
        </p:txBody>
      </p:sp>
      <p:sp>
        <p:nvSpPr>
          <p:cNvPr id="14" name="TextBox 14"/>
          <p:cNvSpPr txBox="1"/>
          <p:nvPr/>
        </p:nvSpPr>
        <p:spPr>
          <a:xfrm>
            <a:off x="1617764" y="2580389"/>
            <a:ext cx="6566516" cy="1921240"/>
          </a:xfrm>
          <a:prstGeom prst="rect">
            <a:avLst/>
          </a:prstGeom>
        </p:spPr>
        <p:txBody>
          <a:bodyPr lIns="0" tIns="0" rIns="0" bIns="0" rtlCol="0" anchor="t">
            <a:spAutoFit/>
          </a:bodyPr>
          <a:lstStyle/>
          <a:p>
            <a:pPr algn="l">
              <a:lnSpc>
                <a:spcPts val="3801"/>
              </a:lnSpc>
            </a:pPr>
            <a:r>
              <a:rPr lang="en-US" sz="2728">
                <a:solidFill>
                  <a:srgbClr val="FFFFFF"/>
                </a:solidFill>
                <a:latin typeface="HK Grotesk"/>
                <a:ea typeface="HK Grotesk"/>
                <a:cs typeface="HK Grotesk"/>
                <a:sym typeface="HK Grotesk"/>
              </a:rPr>
              <a:t> – Chronic conditions like heart disease, diabetes, and stroke are growing rapidly worldwide. Early risk detection is critical to managing and preventing these illnesses.</a:t>
            </a:r>
          </a:p>
        </p:txBody>
      </p:sp>
      <p:sp>
        <p:nvSpPr>
          <p:cNvPr id="15" name="TextBox 15"/>
          <p:cNvSpPr txBox="1"/>
          <p:nvPr/>
        </p:nvSpPr>
        <p:spPr>
          <a:xfrm>
            <a:off x="1028700" y="4511345"/>
            <a:ext cx="4774702" cy="474716"/>
          </a:xfrm>
          <a:prstGeom prst="rect">
            <a:avLst/>
          </a:prstGeom>
        </p:spPr>
        <p:txBody>
          <a:bodyPr lIns="0" tIns="0" rIns="0" bIns="0" rtlCol="0" anchor="t">
            <a:spAutoFit/>
          </a:bodyPr>
          <a:lstStyle/>
          <a:p>
            <a:pPr algn="l">
              <a:lnSpc>
                <a:spcPts val="3801"/>
              </a:lnSpc>
            </a:pPr>
            <a:r>
              <a:rPr lang="en-US" sz="2728">
                <a:solidFill>
                  <a:srgbClr val="FFFFFF"/>
                </a:solidFill>
                <a:latin typeface="HK Grotesk"/>
                <a:ea typeface="HK Grotesk"/>
                <a:cs typeface="HK Grotesk"/>
                <a:sym typeface="HK Grotesk"/>
              </a:rPr>
              <a:t> 2. </a:t>
            </a:r>
            <a:r>
              <a:rPr lang="en-US" sz="2728" b="1">
                <a:solidFill>
                  <a:srgbClr val="FFFFFF"/>
                </a:solidFill>
                <a:latin typeface="HK Grotesk Bold"/>
                <a:ea typeface="HK Grotesk Bold"/>
                <a:cs typeface="HK Grotesk Bold"/>
                <a:sym typeface="HK Grotesk Bold"/>
              </a:rPr>
              <a:t>Delayed Medical Attention</a:t>
            </a:r>
          </a:p>
        </p:txBody>
      </p:sp>
      <p:sp>
        <p:nvSpPr>
          <p:cNvPr id="16" name="TextBox 16"/>
          <p:cNvSpPr txBox="1"/>
          <p:nvPr/>
        </p:nvSpPr>
        <p:spPr>
          <a:xfrm>
            <a:off x="1617764" y="4994081"/>
            <a:ext cx="6730832" cy="1921240"/>
          </a:xfrm>
          <a:prstGeom prst="rect">
            <a:avLst/>
          </a:prstGeom>
        </p:spPr>
        <p:txBody>
          <a:bodyPr lIns="0" tIns="0" rIns="0" bIns="0" rtlCol="0" anchor="t">
            <a:spAutoFit/>
          </a:bodyPr>
          <a:lstStyle/>
          <a:p>
            <a:pPr algn="l">
              <a:lnSpc>
                <a:spcPts val="3801"/>
              </a:lnSpc>
            </a:pPr>
            <a:r>
              <a:rPr lang="en-US" sz="2728">
                <a:solidFill>
                  <a:srgbClr val="FFFFFF"/>
                </a:solidFill>
                <a:latin typeface="HK Grotesk"/>
                <a:ea typeface="HK Grotesk"/>
                <a:cs typeface="HK Grotesk"/>
                <a:sym typeface="HK Grotesk"/>
              </a:rPr>
              <a:t> – Many people don’t recognize or act on early symptoms, which leads to late diagnoses and worse outcomes. This system bridges that gap.</a:t>
            </a:r>
          </a:p>
        </p:txBody>
      </p:sp>
      <p:sp>
        <p:nvSpPr>
          <p:cNvPr id="17" name="TextBox 17"/>
          <p:cNvSpPr txBox="1"/>
          <p:nvPr/>
        </p:nvSpPr>
        <p:spPr>
          <a:xfrm>
            <a:off x="1028700" y="6925027"/>
            <a:ext cx="6144025" cy="474716"/>
          </a:xfrm>
          <a:prstGeom prst="rect">
            <a:avLst/>
          </a:prstGeom>
        </p:spPr>
        <p:txBody>
          <a:bodyPr lIns="0" tIns="0" rIns="0" bIns="0" rtlCol="0" anchor="t">
            <a:spAutoFit/>
          </a:bodyPr>
          <a:lstStyle/>
          <a:p>
            <a:pPr algn="l">
              <a:lnSpc>
                <a:spcPts val="3801"/>
              </a:lnSpc>
            </a:pPr>
            <a:r>
              <a:rPr lang="en-US" sz="2728">
                <a:solidFill>
                  <a:srgbClr val="FFFFFF"/>
                </a:solidFill>
                <a:latin typeface="HK Grotesk"/>
                <a:ea typeface="HK Grotesk"/>
                <a:cs typeface="HK Grotesk"/>
                <a:sym typeface="HK Grotesk"/>
              </a:rPr>
              <a:t> 3. </a:t>
            </a:r>
            <a:r>
              <a:rPr lang="en-US" sz="2728" b="1">
                <a:solidFill>
                  <a:srgbClr val="FFFFFF"/>
                </a:solidFill>
                <a:latin typeface="HK Grotesk Bold"/>
                <a:ea typeface="HK Grotesk Bold"/>
                <a:cs typeface="HK Grotesk Bold"/>
                <a:sym typeface="HK Grotesk Bold"/>
              </a:rPr>
              <a:t>Need for Accessible Health Insights</a:t>
            </a:r>
          </a:p>
        </p:txBody>
      </p:sp>
      <p:sp>
        <p:nvSpPr>
          <p:cNvPr id="18" name="TextBox 18"/>
          <p:cNvSpPr txBox="1"/>
          <p:nvPr/>
        </p:nvSpPr>
        <p:spPr>
          <a:xfrm>
            <a:off x="1617764" y="7407764"/>
            <a:ext cx="6082884" cy="2403977"/>
          </a:xfrm>
          <a:prstGeom prst="rect">
            <a:avLst/>
          </a:prstGeom>
        </p:spPr>
        <p:txBody>
          <a:bodyPr lIns="0" tIns="0" rIns="0" bIns="0" rtlCol="0" anchor="t">
            <a:spAutoFit/>
          </a:bodyPr>
          <a:lstStyle/>
          <a:p>
            <a:pPr algn="l">
              <a:lnSpc>
                <a:spcPts val="3801"/>
              </a:lnSpc>
            </a:pPr>
            <a:r>
              <a:rPr lang="en-US" sz="2728">
                <a:solidFill>
                  <a:srgbClr val="FFFFFF"/>
                </a:solidFill>
                <a:latin typeface="HK Grotesk"/>
                <a:ea typeface="HK Grotesk"/>
                <a:cs typeface="HK Grotesk"/>
                <a:sym typeface="HK Grotesk"/>
              </a:rPr>
              <a:t> – In many regions, especially remote or underserved areas, quick access to professional healthcare isn't always possible. An AI assistant offers a fast, reliable first step.</a:t>
            </a:r>
          </a:p>
        </p:txBody>
      </p:sp>
    </p:spTree>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a:p>
        </p:txBody>
      </p:sp>
      <p:sp>
        <p:nvSpPr>
          <p:cNvPr id="3" name="Freeform 3"/>
          <p:cNvSpPr/>
          <p:nvPr/>
        </p:nvSpPr>
        <p:spPr>
          <a:xfrm rot="5400000" flipV="1">
            <a:off x="5887383" y="-2113617"/>
            <a:ext cx="10286943" cy="14514166"/>
          </a:xfrm>
          <a:custGeom>
            <a:avLst/>
            <a:gdLst/>
            <a:ahLst/>
            <a:cxnLst/>
            <a:rect l="l" t="t" r="r" b="b"/>
            <a:pathLst>
              <a:path w="10286943" h="14514166">
                <a:moveTo>
                  <a:pt x="0" y="14514167"/>
                </a:moveTo>
                <a:lnTo>
                  <a:pt x="10286943" y="14514167"/>
                </a:lnTo>
                <a:lnTo>
                  <a:pt x="10286943" y="0"/>
                </a:lnTo>
                <a:lnTo>
                  <a:pt x="0" y="0"/>
                </a:lnTo>
                <a:lnTo>
                  <a:pt x="0" y="14514167"/>
                </a:lnTo>
                <a:close/>
              </a:path>
            </a:pathLst>
          </a:custGeom>
          <a:blipFill>
            <a:blip r:embed="rId3"/>
            <a:stretch>
              <a:fillRect t="-13"/>
            </a:stretch>
          </a:blipFill>
        </p:spPr>
        <p:txBody>
          <a:bodyPr/>
          <a:lstStyle/>
          <a:p>
            <a:endParaRPr lang="en-IN"/>
          </a:p>
        </p:txBody>
      </p:sp>
      <p:sp>
        <p:nvSpPr>
          <p:cNvPr id="4" name="Freeform 4"/>
          <p:cNvSpPr/>
          <p:nvPr/>
        </p:nvSpPr>
        <p:spPr>
          <a:xfrm>
            <a:off x="572519" y="965197"/>
            <a:ext cx="8356597" cy="8356597"/>
          </a:xfrm>
          <a:custGeom>
            <a:avLst/>
            <a:gdLst/>
            <a:ahLst/>
            <a:cxnLst/>
            <a:rect l="l" t="t" r="r" b="b"/>
            <a:pathLst>
              <a:path w="8356597" h="8356597">
                <a:moveTo>
                  <a:pt x="0" y="0"/>
                </a:moveTo>
                <a:lnTo>
                  <a:pt x="8356597" y="0"/>
                </a:lnTo>
                <a:lnTo>
                  <a:pt x="8356597" y="8356597"/>
                </a:lnTo>
                <a:lnTo>
                  <a:pt x="0" y="835659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grpSp>
        <p:nvGrpSpPr>
          <p:cNvPr id="5" name="Group 5"/>
          <p:cNvGrpSpPr/>
          <p:nvPr/>
        </p:nvGrpSpPr>
        <p:grpSpPr>
          <a:xfrm>
            <a:off x="947690" y="1340368"/>
            <a:ext cx="7606265" cy="7603055"/>
            <a:chOff x="0" y="0"/>
            <a:chExt cx="10141687" cy="10137407"/>
          </a:xfrm>
        </p:grpSpPr>
        <p:sp>
          <p:nvSpPr>
            <p:cNvPr id="6" name="Freeform 6"/>
            <p:cNvSpPr/>
            <p:nvPr/>
          </p:nvSpPr>
          <p:spPr>
            <a:xfrm>
              <a:off x="0" y="0"/>
              <a:ext cx="10141712" cy="10137394"/>
            </a:xfrm>
            <a:custGeom>
              <a:avLst/>
              <a:gdLst/>
              <a:ahLst/>
              <a:cxnLst/>
              <a:rect l="l" t="t" r="r" b="b"/>
              <a:pathLst>
                <a:path w="10141712" h="10137394">
                  <a:moveTo>
                    <a:pt x="5067554" y="0"/>
                  </a:moveTo>
                  <a:cubicBezTo>
                    <a:pt x="2268474" y="1778"/>
                    <a:pt x="0" y="2271395"/>
                    <a:pt x="0" y="5070856"/>
                  </a:cubicBezTo>
                  <a:cubicBezTo>
                    <a:pt x="0" y="7800975"/>
                    <a:pt x="2157476" y="10027158"/>
                    <a:pt x="4860544" y="10137394"/>
                  </a:cubicBezTo>
                  <a:lnTo>
                    <a:pt x="5281168" y="10137394"/>
                  </a:lnTo>
                  <a:cubicBezTo>
                    <a:pt x="7984236" y="10027158"/>
                    <a:pt x="10141712" y="7800975"/>
                    <a:pt x="10141712" y="5070856"/>
                  </a:cubicBezTo>
                  <a:cubicBezTo>
                    <a:pt x="10141712" y="2271395"/>
                    <a:pt x="7873111" y="1778"/>
                    <a:pt x="5074158" y="0"/>
                  </a:cubicBezTo>
                  <a:close/>
                </a:path>
              </a:pathLst>
            </a:custGeom>
            <a:blipFill>
              <a:blip r:embed="rId6"/>
              <a:stretch>
                <a:fillRect l="-38888" r="-38906"/>
              </a:stretch>
            </a:blipFill>
          </p:spPr>
          <p:txBody>
            <a:bodyPr/>
            <a:lstStyle/>
            <a:p>
              <a:endParaRPr lang="en-IN"/>
            </a:p>
          </p:txBody>
        </p:sp>
      </p:grpSp>
      <p:grpSp>
        <p:nvGrpSpPr>
          <p:cNvPr id="7" name="Group 7"/>
          <p:cNvGrpSpPr>
            <a:grpSpLocks noChangeAspect="1"/>
          </p:cNvGrpSpPr>
          <p:nvPr/>
        </p:nvGrpSpPr>
        <p:grpSpPr>
          <a:xfrm>
            <a:off x="9104338" y="1927098"/>
            <a:ext cx="8154886" cy="85725"/>
            <a:chOff x="0" y="0"/>
            <a:chExt cx="8154886" cy="85725"/>
          </a:xfrm>
        </p:grpSpPr>
        <p:sp>
          <p:nvSpPr>
            <p:cNvPr id="8" name="Freeform 8"/>
            <p:cNvSpPr/>
            <p:nvPr/>
          </p:nvSpPr>
          <p:spPr>
            <a:xfrm>
              <a:off x="0" y="0"/>
              <a:ext cx="8154924" cy="85725"/>
            </a:xfrm>
            <a:custGeom>
              <a:avLst/>
              <a:gdLst/>
              <a:ahLst/>
              <a:cxnLst/>
              <a:rect l="l" t="t" r="r" b="b"/>
              <a:pathLst>
                <a:path w="8154924" h="85725">
                  <a:moveTo>
                    <a:pt x="0" y="0"/>
                  </a:moveTo>
                  <a:lnTo>
                    <a:pt x="8154924" y="0"/>
                  </a:lnTo>
                  <a:lnTo>
                    <a:pt x="8154924" y="85725"/>
                  </a:lnTo>
                  <a:lnTo>
                    <a:pt x="0" y="85725"/>
                  </a:lnTo>
                  <a:close/>
                </a:path>
              </a:pathLst>
            </a:custGeom>
            <a:solidFill>
              <a:srgbClr val="FFFFFF"/>
            </a:solidFill>
          </p:spPr>
          <p:txBody>
            <a:bodyPr/>
            <a:lstStyle/>
            <a:p>
              <a:endParaRPr lang="en-IN"/>
            </a:p>
          </p:txBody>
        </p:sp>
      </p:grpSp>
      <p:sp>
        <p:nvSpPr>
          <p:cNvPr id="9" name="TextBox 9"/>
          <p:cNvSpPr txBox="1"/>
          <p:nvPr/>
        </p:nvSpPr>
        <p:spPr>
          <a:xfrm>
            <a:off x="9104338" y="889168"/>
            <a:ext cx="8318030" cy="1877373"/>
          </a:xfrm>
          <a:prstGeom prst="rect">
            <a:avLst/>
          </a:prstGeom>
        </p:spPr>
        <p:txBody>
          <a:bodyPr lIns="0" tIns="0" rIns="0" bIns="0" rtlCol="0" anchor="t">
            <a:spAutoFit/>
          </a:bodyPr>
          <a:lstStyle/>
          <a:p>
            <a:pPr algn="l">
              <a:lnSpc>
                <a:spcPts val="9959"/>
              </a:lnSpc>
            </a:pPr>
            <a:r>
              <a:rPr lang="en-US" sz="7113" b="1" dirty="0">
                <a:solidFill>
                  <a:srgbClr val="FFFFFF"/>
                </a:solidFill>
                <a:latin typeface="Glacial Indifference Bold Italics"/>
                <a:ea typeface="Glacial Indifference Bold Italics"/>
                <a:cs typeface="Glacial Indifference Bold Italics"/>
                <a:sym typeface="Glacial Indifference Bold Italics"/>
              </a:rPr>
              <a:t>LITERATURE REVIEW</a:t>
            </a:r>
          </a:p>
          <a:p>
            <a:pPr algn="l">
              <a:lnSpc>
                <a:spcPts val="4798"/>
              </a:lnSpc>
            </a:pPr>
            <a:r>
              <a:rPr lang="en-US" sz="3467" dirty="0">
                <a:solidFill>
                  <a:srgbClr val="FFFFFF"/>
                </a:solidFill>
                <a:latin typeface="HK Grotesk"/>
                <a:ea typeface="HK Grotesk"/>
                <a:cs typeface="HK Grotesk"/>
                <a:sym typeface="HK Grotesk"/>
              </a:rPr>
              <a:t>1. Symptom Analysis -</a:t>
            </a:r>
          </a:p>
        </p:txBody>
      </p:sp>
      <p:sp>
        <p:nvSpPr>
          <p:cNvPr id="10" name="TextBox 10"/>
          <p:cNvSpPr txBox="1"/>
          <p:nvPr/>
        </p:nvSpPr>
        <p:spPr>
          <a:xfrm>
            <a:off x="9144000" y="3137421"/>
            <a:ext cx="118643" cy="1195178"/>
          </a:xfrm>
          <a:prstGeom prst="rect">
            <a:avLst/>
          </a:prstGeom>
        </p:spPr>
        <p:txBody>
          <a:bodyPr lIns="0" tIns="0" rIns="0" bIns="0" rtlCol="0" anchor="t">
            <a:spAutoFit/>
          </a:bodyPr>
          <a:lstStyle/>
          <a:p>
            <a:pPr algn="just">
              <a:lnSpc>
                <a:spcPts val="4798"/>
              </a:lnSpc>
            </a:pPr>
            <a:r>
              <a:rPr lang="en-US" sz="3467">
                <a:solidFill>
                  <a:srgbClr val="FFFFFF"/>
                </a:solidFill>
                <a:latin typeface="HK Grotesk"/>
                <a:ea typeface="HK Grotesk"/>
                <a:cs typeface="HK Grotesk"/>
                <a:sym typeface="HK Grotesk"/>
              </a:rPr>
              <a:t> </a:t>
            </a:r>
          </a:p>
          <a:p>
            <a:pPr algn="just">
              <a:lnSpc>
                <a:spcPts val="4798"/>
              </a:lnSpc>
            </a:pPr>
            <a:r>
              <a:rPr lang="en-US" sz="3467">
                <a:solidFill>
                  <a:srgbClr val="FFFFFF"/>
                </a:solidFill>
                <a:latin typeface="HK Grotesk"/>
                <a:ea typeface="HK Grotesk"/>
                <a:cs typeface="HK Grotesk"/>
                <a:sym typeface="HK Grotesk"/>
              </a:rPr>
              <a:t> </a:t>
            </a:r>
          </a:p>
        </p:txBody>
      </p:sp>
      <p:sp>
        <p:nvSpPr>
          <p:cNvPr id="11" name="TextBox 11"/>
          <p:cNvSpPr txBox="1"/>
          <p:nvPr/>
        </p:nvSpPr>
        <p:spPr>
          <a:xfrm>
            <a:off x="9777289" y="2891933"/>
            <a:ext cx="8345634" cy="1195178"/>
          </a:xfrm>
          <a:prstGeom prst="rect">
            <a:avLst/>
          </a:prstGeom>
        </p:spPr>
        <p:txBody>
          <a:bodyPr lIns="0" tIns="0" rIns="0" bIns="0" rtlCol="0" anchor="t">
            <a:spAutoFit/>
          </a:bodyPr>
          <a:lstStyle/>
          <a:p>
            <a:pPr algn="l">
              <a:lnSpc>
                <a:spcPts val="4798"/>
              </a:lnSpc>
            </a:pPr>
            <a:r>
              <a:rPr lang="en-US" sz="3467">
                <a:solidFill>
                  <a:srgbClr val="FFFFFF"/>
                </a:solidFill>
                <a:latin typeface="HK Grotesk"/>
                <a:ea typeface="HK Grotesk"/>
                <a:cs typeface="HK Grotesk"/>
                <a:sym typeface="HK Grotesk"/>
              </a:rPr>
              <a:t>Core to your system’s ability to understand user input and identify possible conditions.</a:t>
            </a:r>
          </a:p>
        </p:txBody>
      </p:sp>
      <p:sp>
        <p:nvSpPr>
          <p:cNvPr id="12" name="TextBox 12"/>
          <p:cNvSpPr txBox="1"/>
          <p:nvPr/>
        </p:nvSpPr>
        <p:spPr>
          <a:xfrm>
            <a:off x="9144000" y="4356621"/>
            <a:ext cx="7381729" cy="576202"/>
          </a:xfrm>
          <a:prstGeom prst="rect">
            <a:avLst/>
          </a:prstGeom>
        </p:spPr>
        <p:txBody>
          <a:bodyPr lIns="0" tIns="0" rIns="0" bIns="0" rtlCol="0" anchor="t">
            <a:spAutoFit/>
          </a:bodyPr>
          <a:lstStyle/>
          <a:p>
            <a:pPr algn="l">
              <a:lnSpc>
                <a:spcPts val="4798"/>
              </a:lnSpc>
            </a:pPr>
            <a:r>
              <a:rPr lang="en-US" sz="3467">
                <a:solidFill>
                  <a:srgbClr val="FFFFFF"/>
                </a:solidFill>
                <a:latin typeface="HK Grotesk"/>
                <a:ea typeface="HK Grotesk"/>
                <a:cs typeface="HK Grotesk"/>
                <a:sym typeface="HK Grotesk"/>
              </a:rPr>
              <a:t>2. Lifestyle-Based disease Prediction -</a:t>
            </a:r>
          </a:p>
        </p:txBody>
      </p:sp>
      <p:sp>
        <p:nvSpPr>
          <p:cNvPr id="13" name="TextBox 13"/>
          <p:cNvSpPr txBox="1"/>
          <p:nvPr/>
        </p:nvSpPr>
        <p:spPr>
          <a:xfrm>
            <a:off x="9144000" y="4966221"/>
            <a:ext cx="118643" cy="585578"/>
          </a:xfrm>
          <a:prstGeom prst="rect">
            <a:avLst/>
          </a:prstGeom>
        </p:spPr>
        <p:txBody>
          <a:bodyPr lIns="0" tIns="0" rIns="0" bIns="0" rtlCol="0" anchor="t">
            <a:spAutoFit/>
          </a:bodyPr>
          <a:lstStyle/>
          <a:p>
            <a:pPr algn="l">
              <a:lnSpc>
                <a:spcPts val="4798"/>
              </a:lnSpc>
            </a:pPr>
            <a:r>
              <a:rPr lang="en-US" sz="3467">
                <a:solidFill>
                  <a:srgbClr val="FFFFFF"/>
                </a:solidFill>
                <a:latin typeface="HK Grotesk"/>
                <a:ea typeface="HK Grotesk"/>
                <a:cs typeface="HK Grotesk"/>
                <a:sym typeface="HK Grotesk"/>
              </a:rPr>
              <a:t> </a:t>
            </a:r>
          </a:p>
        </p:txBody>
      </p:sp>
      <p:sp>
        <p:nvSpPr>
          <p:cNvPr id="14" name="TextBox 14"/>
          <p:cNvSpPr txBox="1"/>
          <p:nvPr/>
        </p:nvSpPr>
        <p:spPr>
          <a:xfrm>
            <a:off x="9841859" y="4966221"/>
            <a:ext cx="7679950" cy="1776352"/>
          </a:xfrm>
          <a:prstGeom prst="rect">
            <a:avLst/>
          </a:prstGeom>
        </p:spPr>
        <p:txBody>
          <a:bodyPr lIns="0" tIns="0" rIns="0" bIns="0" rtlCol="0" anchor="t">
            <a:spAutoFit/>
          </a:bodyPr>
          <a:lstStyle/>
          <a:p>
            <a:pPr algn="l">
              <a:lnSpc>
                <a:spcPts val="4798"/>
              </a:lnSpc>
            </a:pPr>
            <a:r>
              <a:rPr lang="en-US" sz="3467">
                <a:solidFill>
                  <a:srgbClr val="FFFFFF"/>
                </a:solidFill>
                <a:latin typeface="HK Grotesk"/>
                <a:ea typeface="HK Grotesk"/>
                <a:cs typeface="HK Grotesk"/>
                <a:sym typeface="HK Grotesk"/>
              </a:rPr>
              <a:t>Directly supports your risk scoring for chronic diseases like diabetes and heart issues. </a:t>
            </a:r>
          </a:p>
        </p:txBody>
      </p:sp>
      <p:sp>
        <p:nvSpPr>
          <p:cNvPr id="15" name="TextBox 15"/>
          <p:cNvSpPr txBox="1"/>
          <p:nvPr/>
        </p:nvSpPr>
        <p:spPr>
          <a:xfrm>
            <a:off x="9144000" y="6185421"/>
            <a:ext cx="118643" cy="585578"/>
          </a:xfrm>
          <a:prstGeom prst="rect">
            <a:avLst/>
          </a:prstGeom>
        </p:spPr>
        <p:txBody>
          <a:bodyPr lIns="0" tIns="0" rIns="0" bIns="0" rtlCol="0" anchor="t">
            <a:spAutoFit/>
          </a:bodyPr>
          <a:lstStyle/>
          <a:p>
            <a:pPr algn="l">
              <a:lnSpc>
                <a:spcPts val="4798"/>
              </a:lnSpc>
            </a:pPr>
            <a:r>
              <a:rPr lang="en-US" sz="3467">
                <a:solidFill>
                  <a:srgbClr val="FFFFFF"/>
                </a:solidFill>
                <a:latin typeface="HK Grotesk"/>
                <a:ea typeface="HK Grotesk"/>
                <a:cs typeface="HK Grotesk"/>
                <a:sym typeface="HK Grotesk"/>
              </a:rPr>
              <a:t> </a:t>
            </a:r>
          </a:p>
        </p:txBody>
      </p:sp>
      <p:sp>
        <p:nvSpPr>
          <p:cNvPr id="16" name="TextBox 16"/>
          <p:cNvSpPr txBox="1"/>
          <p:nvPr/>
        </p:nvSpPr>
        <p:spPr>
          <a:xfrm>
            <a:off x="9144000" y="6795021"/>
            <a:ext cx="4833347" cy="585578"/>
          </a:xfrm>
          <a:prstGeom prst="rect">
            <a:avLst/>
          </a:prstGeom>
        </p:spPr>
        <p:txBody>
          <a:bodyPr lIns="0" tIns="0" rIns="0" bIns="0" rtlCol="0" anchor="t">
            <a:spAutoFit/>
          </a:bodyPr>
          <a:lstStyle/>
          <a:p>
            <a:pPr algn="l">
              <a:lnSpc>
                <a:spcPts val="4798"/>
              </a:lnSpc>
            </a:pPr>
            <a:r>
              <a:rPr lang="en-US" sz="3467">
                <a:solidFill>
                  <a:srgbClr val="FFFFFF"/>
                </a:solidFill>
                <a:latin typeface="HK Grotesk"/>
                <a:ea typeface="HK Grotesk"/>
                <a:cs typeface="HK Grotesk"/>
                <a:sym typeface="HK Grotesk"/>
              </a:rPr>
              <a:t>3.Multimodal Health AI -</a:t>
            </a:r>
          </a:p>
        </p:txBody>
      </p:sp>
      <p:sp>
        <p:nvSpPr>
          <p:cNvPr id="17" name="TextBox 17"/>
          <p:cNvSpPr txBox="1"/>
          <p:nvPr/>
        </p:nvSpPr>
        <p:spPr>
          <a:xfrm>
            <a:off x="9144000" y="7404621"/>
            <a:ext cx="118643" cy="1804778"/>
          </a:xfrm>
          <a:prstGeom prst="rect">
            <a:avLst/>
          </a:prstGeom>
        </p:spPr>
        <p:txBody>
          <a:bodyPr lIns="0" tIns="0" rIns="0" bIns="0" rtlCol="0" anchor="t">
            <a:spAutoFit/>
          </a:bodyPr>
          <a:lstStyle/>
          <a:p>
            <a:pPr algn="just">
              <a:lnSpc>
                <a:spcPts val="4798"/>
              </a:lnSpc>
            </a:pPr>
            <a:r>
              <a:rPr lang="en-US" sz="3467">
                <a:solidFill>
                  <a:srgbClr val="FFFFFF"/>
                </a:solidFill>
                <a:latin typeface="HK Grotesk"/>
                <a:ea typeface="HK Grotesk"/>
                <a:cs typeface="HK Grotesk"/>
                <a:sym typeface="HK Grotesk"/>
              </a:rPr>
              <a:t> </a:t>
            </a:r>
          </a:p>
          <a:p>
            <a:pPr algn="just">
              <a:lnSpc>
                <a:spcPts val="4798"/>
              </a:lnSpc>
            </a:pPr>
            <a:r>
              <a:rPr lang="en-US" sz="3467">
                <a:solidFill>
                  <a:srgbClr val="FFFFFF"/>
                </a:solidFill>
                <a:latin typeface="HK Grotesk"/>
                <a:ea typeface="HK Grotesk"/>
                <a:cs typeface="HK Grotesk"/>
                <a:sym typeface="HK Grotesk"/>
              </a:rPr>
              <a:t> </a:t>
            </a:r>
          </a:p>
          <a:p>
            <a:pPr algn="just">
              <a:lnSpc>
                <a:spcPts val="4798"/>
              </a:lnSpc>
            </a:pPr>
            <a:r>
              <a:rPr lang="en-US" sz="3467">
                <a:solidFill>
                  <a:srgbClr val="FFFFFF"/>
                </a:solidFill>
                <a:latin typeface="HK Grotesk"/>
                <a:ea typeface="HK Grotesk"/>
                <a:cs typeface="HK Grotesk"/>
                <a:sym typeface="HK Grotesk"/>
              </a:rPr>
              <a:t> </a:t>
            </a:r>
          </a:p>
        </p:txBody>
      </p:sp>
      <p:sp>
        <p:nvSpPr>
          <p:cNvPr id="18" name="TextBox 18"/>
          <p:cNvSpPr txBox="1"/>
          <p:nvPr/>
        </p:nvSpPr>
        <p:spPr>
          <a:xfrm>
            <a:off x="9841859" y="7437749"/>
            <a:ext cx="8216494" cy="1804778"/>
          </a:xfrm>
          <a:prstGeom prst="rect">
            <a:avLst/>
          </a:prstGeom>
        </p:spPr>
        <p:txBody>
          <a:bodyPr lIns="0" tIns="0" rIns="0" bIns="0" rtlCol="0" anchor="t">
            <a:spAutoFit/>
          </a:bodyPr>
          <a:lstStyle/>
          <a:p>
            <a:pPr algn="l">
              <a:lnSpc>
                <a:spcPts val="4798"/>
              </a:lnSpc>
            </a:pPr>
            <a:r>
              <a:rPr lang="en-US" sz="3467">
                <a:solidFill>
                  <a:srgbClr val="FFFFFF"/>
                </a:solidFill>
                <a:latin typeface="HK Grotesk"/>
                <a:ea typeface="HK Grotesk"/>
                <a:cs typeface="HK Grotesk"/>
                <a:sym typeface="HK Grotesk"/>
              </a:rPr>
              <a:t>This ties everything together and justifies your approach of combining different data types for more accurate predictions.</a:t>
            </a:r>
          </a:p>
        </p:txBody>
      </p:sp>
    </p:spTree>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2"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txBody>
          <a:bodyPr/>
          <a:lstStyle/>
          <a:p>
            <a:endParaRPr lang="en-IN"/>
          </a:p>
        </p:txBody>
      </p:sp>
      <p:sp>
        <p:nvSpPr>
          <p:cNvPr id="3" name="Freeform 3"/>
          <p:cNvSpPr/>
          <p:nvPr/>
        </p:nvSpPr>
        <p:spPr>
          <a:xfrm>
            <a:off x="631641" y="0"/>
            <a:ext cx="17021175" cy="10283714"/>
          </a:xfrm>
          <a:custGeom>
            <a:avLst/>
            <a:gdLst/>
            <a:ahLst/>
            <a:cxnLst/>
            <a:rect l="l" t="t" r="r" b="b"/>
            <a:pathLst>
              <a:path w="17021175" h="10283714">
                <a:moveTo>
                  <a:pt x="0" y="0"/>
                </a:moveTo>
                <a:lnTo>
                  <a:pt x="17021175" y="0"/>
                </a:lnTo>
                <a:lnTo>
                  <a:pt x="17021175" y="10283714"/>
                </a:lnTo>
                <a:lnTo>
                  <a:pt x="0" y="10283714"/>
                </a:lnTo>
                <a:lnTo>
                  <a:pt x="0" y="0"/>
                </a:lnTo>
                <a:close/>
              </a:path>
            </a:pathLst>
          </a:custGeom>
          <a:blipFill>
            <a:blip r:embed="rId3"/>
            <a:stretch>
              <a:fillRect t="-133548" b="-44"/>
            </a:stretch>
          </a:blipFill>
        </p:spPr>
        <p:txBody>
          <a:bodyPr/>
          <a:lstStyle/>
          <a:p>
            <a:endParaRPr lang="en-IN"/>
          </a:p>
        </p:txBody>
      </p:sp>
      <p:grpSp>
        <p:nvGrpSpPr>
          <p:cNvPr id="4" name="Group 4"/>
          <p:cNvGrpSpPr>
            <a:grpSpLocks noChangeAspect="1"/>
          </p:cNvGrpSpPr>
          <p:nvPr/>
        </p:nvGrpSpPr>
        <p:grpSpPr>
          <a:xfrm>
            <a:off x="4194210" y="1757677"/>
            <a:ext cx="9899456" cy="123825"/>
            <a:chOff x="0" y="0"/>
            <a:chExt cx="9899447" cy="123825"/>
          </a:xfrm>
        </p:grpSpPr>
        <p:sp>
          <p:nvSpPr>
            <p:cNvPr id="5" name="Freeform 5"/>
            <p:cNvSpPr/>
            <p:nvPr/>
          </p:nvSpPr>
          <p:spPr>
            <a:xfrm>
              <a:off x="0" y="0"/>
              <a:ext cx="9899396" cy="123825"/>
            </a:xfrm>
            <a:custGeom>
              <a:avLst/>
              <a:gdLst/>
              <a:ahLst/>
              <a:cxnLst/>
              <a:rect l="l" t="t" r="r" b="b"/>
              <a:pathLst>
                <a:path w="9899396" h="123825">
                  <a:moveTo>
                    <a:pt x="0" y="0"/>
                  </a:moveTo>
                  <a:lnTo>
                    <a:pt x="9899396" y="0"/>
                  </a:lnTo>
                  <a:lnTo>
                    <a:pt x="9899396" y="123825"/>
                  </a:lnTo>
                  <a:lnTo>
                    <a:pt x="0" y="123825"/>
                  </a:lnTo>
                  <a:close/>
                </a:path>
              </a:pathLst>
            </a:custGeom>
            <a:solidFill>
              <a:srgbClr val="FFFFFF"/>
            </a:solidFill>
          </p:spPr>
          <p:txBody>
            <a:bodyPr/>
            <a:lstStyle/>
            <a:p>
              <a:endParaRPr lang="en-IN"/>
            </a:p>
          </p:txBody>
        </p:sp>
      </p:grpSp>
      <p:grpSp>
        <p:nvGrpSpPr>
          <p:cNvPr id="6" name="Group 6"/>
          <p:cNvGrpSpPr>
            <a:grpSpLocks noChangeAspect="1"/>
          </p:cNvGrpSpPr>
          <p:nvPr/>
        </p:nvGrpSpPr>
        <p:grpSpPr>
          <a:xfrm>
            <a:off x="4658554" y="3243577"/>
            <a:ext cx="8970769" cy="123825"/>
            <a:chOff x="0" y="0"/>
            <a:chExt cx="8970759" cy="123825"/>
          </a:xfrm>
        </p:grpSpPr>
        <p:sp>
          <p:nvSpPr>
            <p:cNvPr id="7" name="Freeform 7"/>
            <p:cNvSpPr/>
            <p:nvPr/>
          </p:nvSpPr>
          <p:spPr>
            <a:xfrm>
              <a:off x="0" y="0"/>
              <a:ext cx="8970772" cy="123825"/>
            </a:xfrm>
            <a:custGeom>
              <a:avLst/>
              <a:gdLst/>
              <a:ahLst/>
              <a:cxnLst/>
              <a:rect l="l" t="t" r="r" b="b"/>
              <a:pathLst>
                <a:path w="8970772" h="123825">
                  <a:moveTo>
                    <a:pt x="0" y="0"/>
                  </a:moveTo>
                  <a:lnTo>
                    <a:pt x="8970772" y="0"/>
                  </a:lnTo>
                  <a:lnTo>
                    <a:pt x="8970772" y="123825"/>
                  </a:lnTo>
                  <a:lnTo>
                    <a:pt x="0" y="123825"/>
                  </a:lnTo>
                  <a:close/>
                </a:path>
              </a:pathLst>
            </a:custGeom>
            <a:solidFill>
              <a:srgbClr val="FFFFFF"/>
            </a:solidFill>
          </p:spPr>
          <p:txBody>
            <a:bodyPr/>
            <a:lstStyle/>
            <a:p>
              <a:endParaRPr lang="en-IN"/>
            </a:p>
          </p:txBody>
        </p:sp>
      </p:grpSp>
      <p:sp>
        <p:nvSpPr>
          <p:cNvPr id="8" name="TextBox 8"/>
          <p:cNvSpPr txBox="1"/>
          <p:nvPr/>
        </p:nvSpPr>
        <p:spPr>
          <a:xfrm>
            <a:off x="1986067" y="4422762"/>
            <a:ext cx="14602006" cy="4028002"/>
          </a:xfrm>
          <a:prstGeom prst="rect">
            <a:avLst/>
          </a:prstGeom>
        </p:spPr>
        <p:txBody>
          <a:bodyPr lIns="0" tIns="0" rIns="0" bIns="0" rtlCol="0" anchor="t">
            <a:spAutoFit/>
          </a:bodyPr>
          <a:lstStyle/>
          <a:p>
            <a:pPr algn="ctr">
              <a:lnSpc>
                <a:spcPts val="3975"/>
              </a:lnSpc>
            </a:pPr>
            <a:r>
              <a:rPr lang="en-US" sz="2868">
                <a:solidFill>
                  <a:srgbClr val="FFFFFF"/>
                </a:solidFill>
                <a:latin typeface="HK Grotesk"/>
                <a:ea typeface="HK Grotesk"/>
                <a:cs typeface="HK Grotesk"/>
                <a:sym typeface="HK Grotesk"/>
              </a:rPr>
              <a:t>The system begins by collecting user inputs, including symptoms and lifestyle factors. An NLP model (BioBERT) processes the symptom text to identify potential conditions. Simultaneously, a machine learning model (Logistic Regression or XGBoost) analyzes lifestyle and health data to predict risks of diseases like diabetes, heart disease, and stroke. If a high-risk condition is detected, the system prompts the user to upload relevant medical scans. These scans are then analyzed using deep learning models (ResNet or Vision Transformer) for confirmation. Finally, all outputs are combined to make a decision—either flagging a medical emergency or suggesting lifestyle improvements.</a:t>
            </a:r>
          </a:p>
        </p:txBody>
      </p:sp>
      <p:sp>
        <p:nvSpPr>
          <p:cNvPr id="9" name="TextBox 9"/>
          <p:cNvSpPr txBox="1"/>
          <p:nvPr/>
        </p:nvSpPr>
        <p:spPr>
          <a:xfrm>
            <a:off x="4194210" y="512512"/>
            <a:ext cx="10097348" cy="3009519"/>
          </a:xfrm>
          <a:prstGeom prst="rect">
            <a:avLst/>
          </a:prstGeom>
        </p:spPr>
        <p:txBody>
          <a:bodyPr lIns="0" tIns="0" rIns="0" bIns="0" rtlCol="0" anchor="t">
            <a:spAutoFit/>
          </a:bodyPr>
          <a:lstStyle/>
          <a:p>
            <a:pPr algn="ctr">
              <a:lnSpc>
                <a:spcPts val="11700"/>
              </a:lnSpc>
            </a:pPr>
            <a:r>
              <a:rPr lang="en-US" sz="10372" b="1" dirty="0">
                <a:solidFill>
                  <a:srgbClr val="FFFFFF"/>
                </a:solidFill>
                <a:latin typeface="Glacial Indifference Bold Italics"/>
                <a:ea typeface="Glacial Indifference Bold Italics"/>
                <a:cs typeface="Glacial Indifference Bold Italics"/>
                <a:sym typeface="Glacial Indifference Bold Italics"/>
              </a:rPr>
              <a:t>METHODOLOGY FORMULATION</a:t>
            </a:r>
          </a:p>
        </p:txBody>
      </p:sp>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a:p>
        </p:txBody>
      </p:sp>
      <p:sp>
        <p:nvSpPr>
          <p:cNvPr id="3" name="Freeform 3"/>
          <p:cNvSpPr/>
          <p:nvPr/>
        </p:nvSpPr>
        <p:spPr>
          <a:xfrm rot="5400000" flipV="1">
            <a:off x="5887383" y="-2113617"/>
            <a:ext cx="10286943" cy="14514166"/>
          </a:xfrm>
          <a:custGeom>
            <a:avLst/>
            <a:gdLst/>
            <a:ahLst/>
            <a:cxnLst/>
            <a:rect l="l" t="t" r="r" b="b"/>
            <a:pathLst>
              <a:path w="10286943" h="14514166">
                <a:moveTo>
                  <a:pt x="0" y="14514167"/>
                </a:moveTo>
                <a:lnTo>
                  <a:pt x="10286943" y="14514167"/>
                </a:lnTo>
                <a:lnTo>
                  <a:pt x="10286943" y="0"/>
                </a:lnTo>
                <a:lnTo>
                  <a:pt x="0" y="0"/>
                </a:lnTo>
                <a:lnTo>
                  <a:pt x="0" y="14514167"/>
                </a:lnTo>
                <a:close/>
              </a:path>
            </a:pathLst>
          </a:custGeom>
          <a:blipFill>
            <a:blip r:embed="rId3"/>
            <a:stretch>
              <a:fillRect t="-13"/>
            </a:stretch>
          </a:blipFill>
        </p:spPr>
        <p:txBody>
          <a:bodyPr/>
          <a:lstStyle/>
          <a:p>
            <a:endParaRPr lang="en-IN"/>
          </a:p>
        </p:txBody>
      </p:sp>
      <p:sp>
        <p:nvSpPr>
          <p:cNvPr id="4" name="Freeform 4"/>
          <p:cNvSpPr/>
          <p:nvPr/>
        </p:nvSpPr>
        <p:spPr>
          <a:xfrm flipH="1">
            <a:off x="0" y="1009926"/>
            <a:ext cx="6941639" cy="9277074"/>
          </a:xfrm>
          <a:custGeom>
            <a:avLst/>
            <a:gdLst/>
            <a:ahLst/>
            <a:cxnLst/>
            <a:rect l="l" t="t" r="r" b="b"/>
            <a:pathLst>
              <a:path w="6941639" h="9277074">
                <a:moveTo>
                  <a:pt x="6941639" y="0"/>
                </a:moveTo>
                <a:lnTo>
                  <a:pt x="0" y="0"/>
                </a:lnTo>
                <a:lnTo>
                  <a:pt x="0" y="9277074"/>
                </a:lnTo>
                <a:lnTo>
                  <a:pt x="6941639" y="9277074"/>
                </a:lnTo>
                <a:lnTo>
                  <a:pt x="6941639" y="0"/>
                </a:lnTo>
                <a:close/>
              </a:path>
            </a:pathLst>
          </a:custGeom>
          <a:blipFill>
            <a:blip r:embed="rId4"/>
            <a:stretch>
              <a:fillRect l="-30" b="-37889"/>
            </a:stretch>
          </a:blipFill>
        </p:spPr>
        <p:txBody>
          <a:bodyPr/>
          <a:lstStyle/>
          <a:p>
            <a:endParaRPr lang="en-IN"/>
          </a:p>
        </p:txBody>
      </p:sp>
      <p:grpSp>
        <p:nvGrpSpPr>
          <p:cNvPr id="5" name="Group 5"/>
          <p:cNvGrpSpPr>
            <a:grpSpLocks noChangeAspect="1"/>
          </p:cNvGrpSpPr>
          <p:nvPr/>
        </p:nvGrpSpPr>
        <p:grpSpPr>
          <a:xfrm>
            <a:off x="7686904" y="2499884"/>
            <a:ext cx="3710188" cy="155572"/>
            <a:chOff x="0" y="0"/>
            <a:chExt cx="3710191" cy="155575"/>
          </a:xfrm>
        </p:grpSpPr>
        <p:sp>
          <p:nvSpPr>
            <p:cNvPr id="6" name="Freeform 6"/>
            <p:cNvSpPr/>
            <p:nvPr/>
          </p:nvSpPr>
          <p:spPr>
            <a:xfrm>
              <a:off x="63500" y="63500"/>
              <a:ext cx="119634" cy="28575"/>
            </a:xfrm>
            <a:custGeom>
              <a:avLst/>
              <a:gdLst/>
              <a:ahLst/>
              <a:cxnLst/>
              <a:rect l="l" t="t" r="r" b="b"/>
              <a:pathLst>
                <a:path w="119634" h="28575">
                  <a:moveTo>
                    <a:pt x="0" y="0"/>
                  </a:moveTo>
                  <a:lnTo>
                    <a:pt x="119634" y="0"/>
                  </a:lnTo>
                  <a:lnTo>
                    <a:pt x="119634" y="28575"/>
                  </a:lnTo>
                  <a:lnTo>
                    <a:pt x="0" y="28575"/>
                  </a:lnTo>
                  <a:close/>
                </a:path>
              </a:pathLst>
            </a:custGeom>
            <a:solidFill>
              <a:srgbClr val="FFFFFF"/>
            </a:solidFill>
          </p:spPr>
          <p:txBody>
            <a:bodyPr/>
            <a:lstStyle/>
            <a:p>
              <a:endParaRPr lang="en-IN"/>
            </a:p>
          </p:txBody>
        </p:sp>
        <p:sp>
          <p:nvSpPr>
            <p:cNvPr id="7" name="Freeform 7"/>
            <p:cNvSpPr/>
            <p:nvPr/>
          </p:nvSpPr>
          <p:spPr>
            <a:xfrm>
              <a:off x="183134" y="63500"/>
              <a:ext cx="3463544" cy="28575"/>
            </a:xfrm>
            <a:custGeom>
              <a:avLst/>
              <a:gdLst/>
              <a:ahLst/>
              <a:cxnLst/>
              <a:rect l="l" t="t" r="r" b="b"/>
              <a:pathLst>
                <a:path w="3463544" h="28575">
                  <a:moveTo>
                    <a:pt x="0" y="0"/>
                  </a:moveTo>
                  <a:lnTo>
                    <a:pt x="3463544" y="0"/>
                  </a:lnTo>
                  <a:lnTo>
                    <a:pt x="3463544" y="28575"/>
                  </a:lnTo>
                  <a:lnTo>
                    <a:pt x="0" y="28575"/>
                  </a:lnTo>
                  <a:close/>
                </a:path>
              </a:pathLst>
            </a:custGeom>
            <a:solidFill>
              <a:srgbClr val="FFFFFF"/>
            </a:solidFill>
          </p:spPr>
          <p:txBody>
            <a:bodyPr/>
            <a:lstStyle/>
            <a:p>
              <a:endParaRPr lang="en-IN"/>
            </a:p>
          </p:txBody>
        </p:sp>
      </p:grpSp>
      <p:grpSp>
        <p:nvGrpSpPr>
          <p:cNvPr id="8" name="Group 8"/>
          <p:cNvGrpSpPr>
            <a:grpSpLocks noChangeAspect="1"/>
          </p:cNvGrpSpPr>
          <p:nvPr/>
        </p:nvGrpSpPr>
        <p:grpSpPr>
          <a:xfrm>
            <a:off x="7967843" y="7706887"/>
            <a:ext cx="4619920" cy="28575"/>
            <a:chOff x="0" y="0"/>
            <a:chExt cx="4619917" cy="28575"/>
          </a:xfrm>
        </p:grpSpPr>
        <p:sp>
          <p:nvSpPr>
            <p:cNvPr id="9" name="Freeform 9"/>
            <p:cNvSpPr/>
            <p:nvPr/>
          </p:nvSpPr>
          <p:spPr>
            <a:xfrm>
              <a:off x="0" y="0"/>
              <a:ext cx="4619879" cy="28575"/>
            </a:xfrm>
            <a:custGeom>
              <a:avLst/>
              <a:gdLst/>
              <a:ahLst/>
              <a:cxnLst/>
              <a:rect l="l" t="t" r="r" b="b"/>
              <a:pathLst>
                <a:path w="4619879" h="28575">
                  <a:moveTo>
                    <a:pt x="0" y="0"/>
                  </a:moveTo>
                  <a:lnTo>
                    <a:pt x="4619879" y="0"/>
                  </a:lnTo>
                  <a:lnTo>
                    <a:pt x="4619879" y="28575"/>
                  </a:lnTo>
                  <a:lnTo>
                    <a:pt x="0" y="28575"/>
                  </a:lnTo>
                  <a:close/>
                </a:path>
              </a:pathLst>
            </a:custGeom>
            <a:solidFill>
              <a:srgbClr val="FFFFFF"/>
            </a:solidFill>
          </p:spPr>
          <p:txBody>
            <a:bodyPr/>
            <a:lstStyle/>
            <a:p>
              <a:endParaRPr lang="en-IN"/>
            </a:p>
          </p:txBody>
        </p:sp>
      </p:grpSp>
      <p:grpSp>
        <p:nvGrpSpPr>
          <p:cNvPr id="10" name="Group 10"/>
          <p:cNvGrpSpPr>
            <a:grpSpLocks noChangeAspect="1"/>
          </p:cNvGrpSpPr>
          <p:nvPr/>
        </p:nvGrpSpPr>
        <p:grpSpPr>
          <a:xfrm>
            <a:off x="7967843" y="5649487"/>
            <a:ext cx="4021341" cy="28575"/>
            <a:chOff x="0" y="0"/>
            <a:chExt cx="4021341" cy="28575"/>
          </a:xfrm>
        </p:grpSpPr>
        <p:sp>
          <p:nvSpPr>
            <p:cNvPr id="11" name="Freeform 11"/>
            <p:cNvSpPr/>
            <p:nvPr/>
          </p:nvSpPr>
          <p:spPr>
            <a:xfrm>
              <a:off x="0" y="0"/>
              <a:ext cx="4021328" cy="28575"/>
            </a:xfrm>
            <a:custGeom>
              <a:avLst/>
              <a:gdLst/>
              <a:ahLst/>
              <a:cxnLst/>
              <a:rect l="l" t="t" r="r" b="b"/>
              <a:pathLst>
                <a:path w="4021328" h="28575">
                  <a:moveTo>
                    <a:pt x="0" y="0"/>
                  </a:moveTo>
                  <a:lnTo>
                    <a:pt x="4021328" y="0"/>
                  </a:lnTo>
                  <a:lnTo>
                    <a:pt x="4021328" y="28575"/>
                  </a:lnTo>
                  <a:lnTo>
                    <a:pt x="0" y="28575"/>
                  </a:lnTo>
                  <a:close/>
                </a:path>
              </a:pathLst>
            </a:custGeom>
            <a:solidFill>
              <a:srgbClr val="FFFFFF"/>
            </a:solidFill>
          </p:spPr>
          <p:txBody>
            <a:bodyPr/>
            <a:lstStyle/>
            <a:p>
              <a:endParaRPr lang="en-IN"/>
            </a:p>
          </p:txBody>
        </p:sp>
      </p:grpSp>
      <p:grpSp>
        <p:nvGrpSpPr>
          <p:cNvPr id="12" name="Group 12"/>
          <p:cNvGrpSpPr>
            <a:grpSpLocks noChangeAspect="1"/>
          </p:cNvGrpSpPr>
          <p:nvPr/>
        </p:nvGrpSpPr>
        <p:grpSpPr>
          <a:xfrm>
            <a:off x="10473366" y="1322384"/>
            <a:ext cx="3979269" cy="212722"/>
            <a:chOff x="0" y="0"/>
            <a:chExt cx="3979266" cy="212725"/>
          </a:xfrm>
        </p:grpSpPr>
        <p:sp>
          <p:nvSpPr>
            <p:cNvPr id="13" name="Freeform 13"/>
            <p:cNvSpPr/>
            <p:nvPr/>
          </p:nvSpPr>
          <p:spPr>
            <a:xfrm>
              <a:off x="63500" y="63500"/>
              <a:ext cx="3626358" cy="85725"/>
            </a:xfrm>
            <a:custGeom>
              <a:avLst/>
              <a:gdLst/>
              <a:ahLst/>
              <a:cxnLst/>
              <a:rect l="l" t="t" r="r" b="b"/>
              <a:pathLst>
                <a:path w="3626358" h="85725">
                  <a:moveTo>
                    <a:pt x="0" y="0"/>
                  </a:moveTo>
                  <a:lnTo>
                    <a:pt x="3626358" y="0"/>
                  </a:lnTo>
                  <a:lnTo>
                    <a:pt x="3626358" y="85725"/>
                  </a:lnTo>
                  <a:lnTo>
                    <a:pt x="0" y="85725"/>
                  </a:lnTo>
                  <a:close/>
                </a:path>
              </a:pathLst>
            </a:custGeom>
            <a:solidFill>
              <a:srgbClr val="FFFFFF"/>
            </a:solidFill>
          </p:spPr>
          <p:txBody>
            <a:bodyPr/>
            <a:lstStyle/>
            <a:p>
              <a:endParaRPr lang="en-IN"/>
            </a:p>
          </p:txBody>
        </p:sp>
        <p:sp>
          <p:nvSpPr>
            <p:cNvPr id="14" name="Freeform 14"/>
            <p:cNvSpPr/>
            <p:nvPr/>
          </p:nvSpPr>
          <p:spPr>
            <a:xfrm>
              <a:off x="3689858" y="63500"/>
              <a:ext cx="225933" cy="85725"/>
            </a:xfrm>
            <a:custGeom>
              <a:avLst/>
              <a:gdLst/>
              <a:ahLst/>
              <a:cxnLst/>
              <a:rect l="l" t="t" r="r" b="b"/>
              <a:pathLst>
                <a:path w="225933" h="85725">
                  <a:moveTo>
                    <a:pt x="0" y="0"/>
                  </a:moveTo>
                  <a:lnTo>
                    <a:pt x="225933" y="0"/>
                  </a:lnTo>
                  <a:lnTo>
                    <a:pt x="225933" y="85725"/>
                  </a:lnTo>
                  <a:lnTo>
                    <a:pt x="0" y="85725"/>
                  </a:lnTo>
                  <a:close/>
                </a:path>
              </a:pathLst>
            </a:custGeom>
            <a:solidFill>
              <a:srgbClr val="FFFFFF"/>
            </a:solidFill>
          </p:spPr>
          <p:txBody>
            <a:bodyPr/>
            <a:lstStyle/>
            <a:p>
              <a:endParaRPr lang="en-IN"/>
            </a:p>
          </p:txBody>
        </p:sp>
      </p:grpSp>
      <p:sp>
        <p:nvSpPr>
          <p:cNvPr id="15" name="TextBox 15"/>
          <p:cNvSpPr txBox="1"/>
          <p:nvPr/>
        </p:nvSpPr>
        <p:spPr>
          <a:xfrm>
            <a:off x="10536869" y="347958"/>
            <a:ext cx="3929253" cy="1227011"/>
          </a:xfrm>
          <a:prstGeom prst="rect">
            <a:avLst/>
          </a:prstGeom>
        </p:spPr>
        <p:txBody>
          <a:bodyPr lIns="0" tIns="0" rIns="0" bIns="0" rtlCol="0" anchor="t">
            <a:spAutoFit/>
          </a:bodyPr>
          <a:lstStyle/>
          <a:p>
            <a:pPr algn="l">
              <a:lnSpc>
                <a:spcPts val="9959"/>
              </a:lnSpc>
            </a:pPr>
            <a:r>
              <a:rPr lang="en-US" sz="7113" b="1" dirty="0">
                <a:solidFill>
                  <a:srgbClr val="FFFFFF"/>
                </a:solidFill>
                <a:latin typeface="Glacial Indifference Bold Italics"/>
                <a:ea typeface="Glacial Indifference Bold Italics"/>
                <a:cs typeface="Glacial Indifference Bold Italics"/>
                <a:sym typeface="Glacial Indifference Bold Italics"/>
              </a:rPr>
              <a:t>RESULTS</a:t>
            </a:r>
            <a:r>
              <a:rPr lang="en-US" sz="7113" b="1" i="1" dirty="0">
                <a:solidFill>
                  <a:srgbClr val="FFFFFF"/>
                </a:solidFill>
                <a:latin typeface="Glacial Indifference Bold Italics"/>
                <a:ea typeface="Glacial Indifference Bold Italics"/>
                <a:cs typeface="Glacial Indifference Bold Italics"/>
                <a:sym typeface="Glacial Indifference Bold Italics"/>
              </a:rPr>
              <a:t> </a:t>
            </a:r>
          </a:p>
        </p:txBody>
      </p:sp>
      <p:sp>
        <p:nvSpPr>
          <p:cNvPr id="16" name="TextBox 16"/>
          <p:cNvSpPr txBox="1"/>
          <p:nvPr/>
        </p:nvSpPr>
        <p:spPr>
          <a:xfrm>
            <a:off x="7541600" y="2135410"/>
            <a:ext cx="4221251" cy="503263"/>
          </a:xfrm>
          <a:prstGeom prst="rect">
            <a:avLst/>
          </a:prstGeom>
        </p:spPr>
        <p:txBody>
          <a:bodyPr lIns="0" tIns="0" rIns="0" bIns="0" rtlCol="0" anchor="t">
            <a:spAutoFit/>
          </a:bodyPr>
          <a:lstStyle/>
          <a:p>
            <a:pPr algn="l">
              <a:lnSpc>
                <a:spcPts val="4049"/>
              </a:lnSpc>
            </a:pPr>
            <a:r>
              <a:rPr lang="en-US" sz="2915">
                <a:solidFill>
                  <a:srgbClr val="FFFFFF"/>
                </a:solidFill>
                <a:latin typeface="HK Grotesk"/>
                <a:ea typeface="HK Grotesk"/>
                <a:cs typeface="HK Grotesk"/>
                <a:sym typeface="HK Grotesk"/>
              </a:rPr>
              <a:t>1.</a:t>
            </a:r>
            <a:r>
              <a:rPr lang="en-US" sz="2915" b="1">
                <a:solidFill>
                  <a:srgbClr val="FFFFFF"/>
                </a:solidFill>
                <a:latin typeface="HK Grotesk Bold"/>
                <a:ea typeface="HK Grotesk Bold"/>
                <a:cs typeface="HK Grotesk Bold"/>
                <a:sym typeface="HK Grotesk Bold"/>
              </a:rPr>
              <a:t>EXPERIMENT SETUP</a:t>
            </a:r>
            <a:r>
              <a:rPr lang="en-US" sz="2915">
                <a:solidFill>
                  <a:srgbClr val="FFFFFF"/>
                </a:solidFill>
                <a:latin typeface="HK Grotesk"/>
                <a:ea typeface="HK Grotesk"/>
                <a:cs typeface="HK Grotesk"/>
                <a:sym typeface="HK Grotesk"/>
              </a:rPr>
              <a:t> - </a:t>
            </a:r>
          </a:p>
        </p:txBody>
      </p:sp>
      <p:sp>
        <p:nvSpPr>
          <p:cNvPr id="17" name="TextBox 17"/>
          <p:cNvSpPr txBox="1"/>
          <p:nvPr/>
        </p:nvSpPr>
        <p:spPr>
          <a:xfrm>
            <a:off x="7696695" y="2765003"/>
            <a:ext cx="10138639" cy="2006475"/>
          </a:xfrm>
          <a:prstGeom prst="rect">
            <a:avLst/>
          </a:prstGeom>
        </p:spPr>
        <p:txBody>
          <a:bodyPr lIns="0" tIns="0" rIns="0" bIns="0" rtlCol="0" anchor="t">
            <a:spAutoFit/>
          </a:bodyPr>
          <a:lstStyle/>
          <a:p>
            <a:pPr algn="l">
              <a:lnSpc>
                <a:spcPts val="4049"/>
              </a:lnSpc>
            </a:pPr>
            <a:r>
              <a:rPr lang="en-US" sz="2915">
                <a:solidFill>
                  <a:srgbClr val="FFFFFF"/>
                </a:solidFill>
                <a:latin typeface="HK Grotesk"/>
                <a:ea typeface="HK Grotesk"/>
                <a:cs typeface="HK Grotesk"/>
                <a:sym typeface="HK Grotesk"/>
              </a:rPr>
              <a:t>The system was trained using Kaggle datasets, with symptom, lifestyle, and imaging data. Models were evaluated on health risk prediction for conditions like heart disease, diabetes, and stroke.</a:t>
            </a:r>
          </a:p>
        </p:txBody>
      </p:sp>
      <p:sp>
        <p:nvSpPr>
          <p:cNvPr id="18" name="TextBox 18"/>
          <p:cNvSpPr txBox="1"/>
          <p:nvPr/>
        </p:nvSpPr>
        <p:spPr>
          <a:xfrm>
            <a:off x="7541600" y="5033734"/>
            <a:ext cx="4889954" cy="501453"/>
          </a:xfrm>
          <a:prstGeom prst="rect">
            <a:avLst/>
          </a:prstGeom>
        </p:spPr>
        <p:txBody>
          <a:bodyPr lIns="0" tIns="0" rIns="0" bIns="0" rtlCol="0" anchor="t">
            <a:spAutoFit/>
          </a:bodyPr>
          <a:lstStyle/>
          <a:p>
            <a:pPr algn="l">
              <a:lnSpc>
                <a:spcPts val="4049"/>
              </a:lnSpc>
            </a:pPr>
            <a:r>
              <a:rPr lang="en-US" sz="2915">
                <a:solidFill>
                  <a:srgbClr val="FFFFFF"/>
                </a:solidFill>
                <a:latin typeface="HK Grotesk"/>
                <a:ea typeface="HK Grotesk"/>
                <a:cs typeface="HK Grotesk"/>
                <a:sym typeface="HK Grotesk"/>
              </a:rPr>
              <a:t>2. DATASET DESCRIPTION - </a:t>
            </a:r>
          </a:p>
        </p:txBody>
      </p:sp>
      <p:sp>
        <p:nvSpPr>
          <p:cNvPr id="19" name="TextBox 19"/>
          <p:cNvSpPr txBox="1"/>
          <p:nvPr/>
        </p:nvSpPr>
        <p:spPr>
          <a:xfrm>
            <a:off x="7967843" y="5620912"/>
            <a:ext cx="8531079" cy="1822745"/>
          </a:xfrm>
          <a:prstGeom prst="rect">
            <a:avLst/>
          </a:prstGeom>
        </p:spPr>
        <p:txBody>
          <a:bodyPr lIns="0" tIns="0" rIns="0" bIns="0" rtlCol="0" anchor="t">
            <a:spAutoFit/>
          </a:bodyPr>
          <a:lstStyle/>
          <a:p>
            <a:pPr algn="l">
              <a:lnSpc>
                <a:spcPts val="3657"/>
              </a:lnSpc>
            </a:pPr>
            <a:r>
              <a:rPr lang="en-US" sz="2633">
                <a:solidFill>
                  <a:srgbClr val="FFFFFF"/>
                </a:solidFill>
                <a:latin typeface="HK Grotesk"/>
                <a:ea typeface="HK Grotesk"/>
                <a:cs typeface="HK Grotesk"/>
                <a:sym typeface="HK Grotesk"/>
              </a:rPr>
              <a:t>The system uses symptom data, lifestyle data from Kaggle-sourced projects, and medical images from datasets like ChestX-ray14 and Stroke CT/MRI datasets, all obtained through publicly available Kaggle resources.</a:t>
            </a:r>
          </a:p>
        </p:txBody>
      </p:sp>
      <p:sp>
        <p:nvSpPr>
          <p:cNvPr id="20" name="TextBox 20"/>
          <p:cNvSpPr txBox="1"/>
          <p:nvPr/>
        </p:nvSpPr>
        <p:spPr>
          <a:xfrm>
            <a:off x="7541600" y="7849762"/>
            <a:ext cx="10611841" cy="2006475"/>
          </a:xfrm>
          <a:prstGeom prst="rect">
            <a:avLst/>
          </a:prstGeom>
        </p:spPr>
        <p:txBody>
          <a:bodyPr lIns="0" tIns="0" rIns="0" bIns="0" rtlCol="0" anchor="t">
            <a:spAutoFit/>
          </a:bodyPr>
          <a:lstStyle/>
          <a:p>
            <a:pPr algn="l">
              <a:lnSpc>
                <a:spcPts val="4049"/>
              </a:lnSpc>
            </a:pPr>
            <a:r>
              <a:rPr lang="en-US" sz="2915">
                <a:solidFill>
                  <a:srgbClr val="FFFFFF"/>
                </a:solidFill>
                <a:latin typeface="HK Grotesk"/>
                <a:ea typeface="HK Grotesk"/>
                <a:cs typeface="HK Grotesk"/>
                <a:sym typeface="HK Grotesk"/>
              </a:rPr>
              <a:t>3. PERFORMANCE MEASURES</a:t>
            </a:r>
          </a:p>
          <a:p>
            <a:pPr algn="l">
              <a:lnSpc>
                <a:spcPts val="4049"/>
              </a:lnSpc>
            </a:pPr>
            <a:r>
              <a:rPr lang="en-US" sz="2915">
                <a:solidFill>
                  <a:srgbClr val="FFFFFF"/>
                </a:solidFill>
                <a:latin typeface="HK Grotesk"/>
                <a:ea typeface="HK Grotesk"/>
                <a:cs typeface="HK Grotesk"/>
                <a:sym typeface="HK Grotesk"/>
              </a:rPr>
              <a:t> Evaluation was based on accuracy, precision, recall, and AUC-ROC to assess risk prediction and identify high-risk conditions.</a:t>
            </a:r>
          </a:p>
          <a:p>
            <a:pPr algn="l">
              <a:lnSpc>
                <a:spcPts val="4049"/>
              </a:lnSpc>
            </a:pPr>
            <a:endParaRPr lang="en-US" sz="2915">
              <a:solidFill>
                <a:srgbClr val="FFFFFF"/>
              </a:solidFill>
              <a:latin typeface="HK Grotesk"/>
              <a:ea typeface="HK Grotesk"/>
              <a:cs typeface="HK Grotesk"/>
              <a:sym typeface="HK Grotesk"/>
            </a:endParaRPr>
          </a:p>
        </p:txBody>
      </p:sp>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2"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a:stretch>
          </a:blipFill>
        </p:spPr>
        <p:txBody>
          <a:bodyPr/>
          <a:lstStyle/>
          <a:p>
            <a:endParaRPr lang="en-IN"/>
          </a:p>
        </p:txBody>
      </p:sp>
      <p:sp>
        <p:nvSpPr>
          <p:cNvPr id="3" name="Freeform 3"/>
          <p:cNvSpPr/>
          <p:nvPr/>
        </p:nvSpPr>
        <p:spPr>
          <a:xfrm rot="5400000">
            <a:off x="2113645" y="-2113645"/>
            <a:ext cx="10286943" cy="14514224"/>
          </a:xfrm>
          <a:custGeom>
            <a:avLst/>
            <a:gdLst/>
            <a:ahLst/>
            <a:cxnLst/>
            <a:rect l="l" t="t" r="r" b="b"/>
            <a:pathLst>
              <a:path w="10286943" h="14514224">
                <a:moveTo>
                  <a:pt x="0" y="0"/>
                </a:moveTo>
                <a:lnTo>
                  <a:pt x="10286943" y="0"/>
                </a:lnTo>
                <a:lnTo>
                  <a:pt x="10286943" y="14514223"/>
                </a:lnTo>
                <a:lnTo>
                  <a:pt x="0" y="14514223"/>
                </a:lnTo>
                <a:lnTo>
                  <a:pt x="0" y="0"/>
                </a:lnTo>
                <a:close/>
              </a:path>
            </a:pathLst>
          </a:custGeom>
          <a:blipFill>
            <a:blip r:embed="rId3"/>
            <a:stretch>
              <a:fillRect b="-12"/>
            </a:stretch>
          </a:blipFill>
        </p:spPr>
        <p:txBody>
          <a:bodyPr/>
          <a:lstStyle/>
          <a:p>
            <a:endParaRPr lang="en-IN"/>
          </a:p>
        </p:txBody>
      </p:sp>
      <p:sp>
        <p:nvSpPr>
          <p:cNvPr id="4" name="Freeform 4"/>
          <p:cNvSpPr/>
          <p:nvPr/>
        </p:nvSpPr>
        <p:spPr>
          <a:xfrm>
            <a:off x="9690802" y="965197"/>
            <a:ext cx="8356597" cy="8356597"/>
          </a:xfrm>
          <a:custGeom>
            <a:avLst/>
            <a:gdLst/>
            <a:ahLst/>
            <a:cxnLst/>
            <a:rect l="l" t="t" r="r" b="b"/>
            <a:pathLst>
              <a:path w="8356597" h="8356597">
                <a:moveTo>
                  <a:pt x="0" y="0"/>
                </a:moveTo>
                <a:lnTo>
                  <a:pt x="8356596" y="0"/>
                </a:lnTo>
                <a:lnTo>
                  <a:pt x="8356596" y="8356597"/>
                </a:lnTo>
                <a:lnTo>
                  <a:pt x="0" y="835659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grpSp>
        <p:nvGrpSpPr>
          <p:cNvPr id="5" name="Group 5"/>
          <p:cNvGrpSpPr/>
          <p:nvPr/>
        </p:nvGrpSpPr>
        <p:grpSpPr>
          <a:xfrm>
            <a:off x="10065963" y="1340368"/>
            <a:ext cx="7606265" cy="7603055"/>
            <a:chOff x="0" y="0"/>
            <a:chExt cx="10141687" cy="10137407"/>
          </a:xfrm>
        </p:grpSpPr>
        <p:sp>
          <p:nvSpPr>
            <p:cNvPr id="6" name="Freeform 6"/>
            <p:cNvSpPr/>
            <p:nvPr/>
          </p:nvSpPr>
          <p:spPr>
            <a:xfrm>
              <a:off x="0" y="0"/>
              <a:ext cx="10141712" cy="10137394"/>
            </a:xfrm>
            <a:custGeom>
              <a:avLst/>
              <a:gdLst/>
              <a:ahLst/>
              <a:cxnLst/>
              <a:rect l="l" t="t" r="r" b="b"/>
              <a:pathLst>
                <a:path w="10141712" h="10137394">
                  <a:moveTo>
                    <a:pt x="5067554" y="0"/>
                  </a:moveTo>
                  <a:cubicBezTo>
                    <a:pt x="2268474" y="1778"/>
                    <a:pt x="0" y="2271395"/>
                    <a:pt x="0" y="5070856"/>
                  </a:cubicBezTo>
                  <a:cubicBezTo>
                    <a:pt x="0" y="7800975"/>
                    <a:pt x="2157476" y="10027158"/>
                    <a:pt x="4860544" y="10137394"/>
                  </a:cubicBezTo>
                  <a:lnTo>
                    <a:pt x="5281168" y="10137394"/>
                  </a:lnTo>
                  <a:cubicBezTo>
                    <a:pt x="7984236" y="10027158"/>
                    <a:pt x="10141712" y="7800975"/>
                    <a:pt x="10141712" y="5070856"/>
                  </a:cubicBezTo>
                  <a:cubicBezTo>
                    <a:pt x="10141712" y="2271395"/>
                    <a:pt x="7873111" y="1778"/>
                    <a:pt x="5074158" y="0"/>
                  </a:cubicBezTo>
                  <a:close/>
                </a:path>
              </a:pathLst>
            </a:custGeom>
            <a:blipFill>
              <a:blip r:embed="rId6"/>
              <a:stretch>
                <a:fillRect l="-24906" r="-24937"/>
              </a:stretch>
            </a:blipFill>
          </p:spPr>
          <p:txBody>
            <a:bodyPr/>
            <a:lstStyle/>
            <a:p>
              <a:endParaRPr lang="en-IN"/>
            </a:p>
          </p:txBody>
        </p:sp>
      </p:grpSp>
      <p:grpSp>
        <p:nvGrpSpPr>
          <p:cNvPr id="7" name="Group 7"/>
          <p:cNvGrpSpPr>
            <a:grpSpLocks noChangeAspect="1"/>
          </p:cNvGrpSpPr>
          <p:nvPr/>
        </p:nvGrpSpPr>
        <p:grpSpPr>
          <a:xfrm>
            <a:off x="583940" y="2587190"/>
            <a:ext cx="5759206" cy="85725"/>
            <a:chOff x="0" y="0"/>
            <a:chExt cx="5759196" cy="85725"/>
          </a:xfrm>
        </p:grpSpPr>
        <p:sp>
          <p:nvSpPr>
            <p:cNvPr id="8" name="Freeform 8"/>
            <p:cNvSpPr/>
            <p:nvPr/>
          </p:nvSpPr>
          <p:spPr>
            <a:xfrm>
              <a:off x="0" y="0"/>
              <a:ext cx="5759196" cy="85725"/>
            </a:xfrm>
            <a:custGeom>
              <a:avLst/>
              <a:gdLst/>
              <a:ahLst/>
              <a:cxnLst/>
              <a:rect l="l" t="t" r="r" b="b"/>
              <a:pathLst>
                <a:path w="5759196" h="85725">
                  <a:moveTo>
                    <a:pt x="0" y="0"/>
                  </a:moveTo>
                  <a:lnTo>
                    <a:pt x="5759196" y="0"/>
                  </a:lnTo>
                  <a:lnTo>
                    <a:pt x="5759196" y="85725"/>
                  </a:lnTo>
                  <a:lnTo>
                    <a:pt x="0" y="85725"/>
                  </a:lnTo>
                  <a:close/>
                </a:path>
              </a:pathLst>
            </a:custGeom>
            <a:solidFill>
              <a:srgbClr val="FFFFFF"/>
            </a:solidFill>
          </p:spPr>
          <p:txBody>
            <a:bodyPr/>
            <a:lstStyle/>
            <a:p>
              <a:endParaRPr lang="en-IN"/>
            </a:p>
          </p:txBody>
        </p:sp>
      </p:grpSp>
      <p:sp>
        <p:nvSpPr>
          <p:cNvPr id="9" name="TextBox 9"/>
          <p:cNvSpPr txBox="1"/>
          <p:nvPr/>
        </p:nvSpPr>
        <p:spPr>
          <a:xfrm>
            <a:off x="583940" y="1549260"/>
            <a:ext cx="5874315" cy="1227011"/>
          </a:xfrm>
          <a:prstGeom prst="rect">
            <a:avLst/>
          </a:prstGeom>
        </p:spPr>
        <p:txBody>
          <a:bodyPr lIns="0" tIns="0" rIns="0" bIns="0" rtlCol="0" anchor="t">
            <a:spAutoFit/>
          </a:bodyPr>
          <a:lstStyle/>
          <a:p>
            <a:pPr algn="l">
              <a:lnSpc>
                <a:spcPts val="9959"/>
              </a:lnSpc>
            </a:pPr>
            <a:r>
              <a:rPr lang="en-US" sz="7113" b="1" dirty="0">
                <a:solidFill>
                  <a:srgbClr val="FFFFFF"/>
                </a:solidFill>
                <a:latin typeface="Glacial Indifference Bold Italics"/>
                <a:ea typeface="Glacial Indifference Bold Italics"/>
                <a:cs typeface="Glacial Indifference Bold Italics"/>
                <a:sym typeface="Glacial Indifference Bold Italics"/>
              </a:rPr>
              <a:t>CONCLUSION</a:t>
            </a:r>
          </a:p>
        </p:txBody>
      </p:sp>
      <p:sp>
        <p:nvSpPr>
          <p:cNvPr id="10" name="TextBox 10"/>
          <p:cNvSpPr txBox="1"/>
          <p:nvPr/>
        </p:nvSpPr>
        <p:spPr>
          <a:xfrm>
            <a:off x="583940" y="4221661"/>
            <a:ext cx="8410356" cy="3594887"/>
          </a:xfrm>
          <a:prstGeom prst="rect">
            <a:avLst/>
          </a:prstGeom>
        </p:spPr>
        <p:txBody>
          <a:bodyPr lIns="0" tIns="0" rIns="0" bIns="0" rtlCol="0" anchor="t">
            <a:spAutoFit/>
          </a:bodyPr>
          <a:lstStyle/>
          <a:p>
            <a:pPr algn="l">
              <a:lnSpc>
                <a:spcPts val="4123"/>
              </a:lnSpc>
            </a:pPr>
            <a:r>
              <a:rPr lang="en-US" sz="2962">
                <a:solidFill>
                  <a:srgbClr val="FFFFFF"/>
                </a:solidFill>
                <a:latin typeface="HK Grotesk"/>
                <a:ea typeface="HK Grotesk"/>
                <a:cs typeface="HK Grotesk"/>
                <a:sym typeface="HK Grotesk"/>
              </a:rPr>
              <a:t>This AI-driven system combines symptom analysis, lifestyle data, and medical imaging to assess the risk of health conditions like heart disease, diabetes, and stroke. Using NLP and deep learning, it supports preventive healthcare by analyzing multiple inputs and guiding users toward better health management.</a:t>
            </a:r>
          </a:p>
        </p:txBody>
      </p:sp>
    </p:spTree>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dirty="0"/>
          </a:p>
        </p:txBody>
      </p:sp>
      <p:sp>
        <p:nvSpPr>
          <p:cNvPr id="3" name="TextBox 3"/>
          <p:cNvSpPr txBox="1"/>
          <p:nvPr/>
        </p:nvSpPr>
        <p:spPr>
          <a:xfrm>
            <a:off x="4273442" y="3771900"/>
            <a:ext cx="9741113" cy="2039213"/>
          </a:xfrm>
          <a:prstGeom prst="rect">
            <a:avLst/>
          </a:prstGeom>
        </p:spPr>
        <p:txBody>
          <a:bodyPr lIns="0" tIns="0" rIns="0" bIns="0" rtlCol="0" anchor="t">
            <a:spAutoFit/>
          </a:bodyPr>
          <a:lstStyle/>
          <a:p>
            <a:pPr algn="ctr">
              <a:lnSpc>
                <a:spcPts val="6502"/>
              </a:lnSpc>
            </a:pPr>
            <a:r>
              <a:rPr lang="en-US" sz="13005" b="1" dirty="0">
                <a:solidFill>
                  <a:srgbClr val="FFFFFF"/>
                </a:solidFill>
                <a:latin typeface="Glacial Indifference Bold Italics"/>
                <a:ea typeface="Glacial Indifference Bold Italics"/>
                <a:cs typeface="Glacial Indifference Bold Italics"/>
                <a:sym typeface="Glacial Indifference Bold Italics"/>
              </a:rPr>
              <a:t>THANK</a:t>
            </a:r>
            <a:r>
              <a:rPr lang="en-US" sz="13005" b="1" i="1" dirty="0">
                <a:solidFill>
                  <a:srgbClr val="FFFFFF"/>
                </a:solidFill>
                <a:latin typeface="Glacial Indifference Bold Italics"/>
                <a:ea typeface="Glacial Indifference Bold Italics"/>
                <a:cs typeface="Glacial Indifference Bold Italics"/>
                <a:sym typeface="Glacial Indifference Bold Italics"/>
              </a:rPr>
              <a:t> YOU!</a:t>
            </a:r>
          </a:p>
          <a:p>
            <a:pPr algn="ctr">
              <a:lnSpc>
                <a:spcPts val="8161"/>
              </a:lnSpc>
            </a:pPr>
            <a:endParaRPr lang="en-US" sz="13005" b="1" i="1" dirty="0">
              <a:solidFill>
                <a:srgbClr val="FFFFFF"/>
              </a:solidFill>
              <a:latin typeface="Glacial Indifference Bold Italics"/>
              <a:ea typeface="Glacial Indifference Bold Italics"/>
              <a:cs typeface="Glacial Indifference Bold Italics"/>
              <a:sym typeface="Glacial Indifference Bold Italics"/>
            </a:endParaRPr>
          </a:p>
        </p:txBody>
      </p:sp>
      <p:sp>
        <p:nvSpPr>
          <p:cNvPr id="4" name="TextBox 4"/>
          <p:cNvSpPr txBox="1"/>
          <p:nvPr/>
        </p:nvSpPr>
        <p:spPr>
          <a:xfrm>
            <a:off x="5110113" y="4699952"/>
            <a:ext cx="8067773" cy="887095"/>
          </a:xfrm>
          <a:prstGeom prst="rect">
            <a:avLst/>
          </a:prstGeom>
        </p:spPr>
        <p:txBody>
          <a:bodyPr wrap="square" lIns="0" tIns="0" rIns="0" bIns="0" rtlCol="0" anchor="t">
            <a:spAutoFit/>
          </a:bodyPr>
          <a:lstStyle/>
          <a:p>
            <a:pPr algn="ctr">
              <a:lnSpc>
                <a:spcPts val="7279"/>
              </a:lnSpc>
            </a:pPr>
            <a:r>
              <a:rPr lang="en-US" sz="5199" b="1" dirty="0">
                <a:solidFill>
                  <a:srgbClr val="FFFFFF"/>
                </a:solidFill>
                <a:latin typeface="Canva Sans Bold"/>
                <a:ea typeface="Canva Sans Bold"/>
                <a:cs typeface="Canva Sans Bold"/>
                <a:sym typeface="Canva Sans Bold"/>
              </a:rPr>
              <a:t>FOR YOUR ATTENTION</a:t>
            </a:r>
          </a:p>
        </p:txBody>
      </p:sp>
    </p:spTree>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605</Words>
  <Application>Microsoft Office PowerPoint</Application>
  <PresentationFormat>Custom</PresentationFormat>
  <Paragraphs>48</Paragraphs>
  <Slides>9</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vt:i4>
      </vt:variant>
    </vt:vector>
  </HeadingPairs>
  <TitlesOfParts>
    <vt:vector size="19" baseType="lpstr">
      <vt:lpstr>HK Grotesk Italics</vt:lpstr>
      <vt:lpstr>HK Grotesk Bold</vt:lpstr>
      <vt:lpstr>HK Grotesk</vt:lpstr>
      <vt:lpstr>HK Grotesk Bold Italics</vt:lpstr>
      <vt:lpstr>Canva Sans Bold</vt:lpstr>
      <vt:lpstr>Higuen Elegant Serif</vt:lpstr>
      <vt:lpstr>Arial</vt:lpstr>
      <vt:lpstr>Glacial Indifference Bold Italics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See_k</dc:title>
  <cp:lastModifiedBy>Anushka Avanti</cp:lastModifiedBy>
  <cp:revision>1</cp:revision>
  <dcterms:created xsi:type="dcterms:W3CDTF">2006-08-16T00:00:00Z</dcterms:created>
  <dcterms:modified xsi:type="dcterms:W3CDTF">2025-04-21T08:34:37Z</dcterms:modified>
  <dc:identifier>DAGlKuLwia0</dc:identifier>
</cp:coreProperties>
</file>